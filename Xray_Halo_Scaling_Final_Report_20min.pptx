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89d3e7d49141ae" /><Relationship Type="http://schemas.openxmlformats.org/officeDocument/2006/relationships/extended-properties" Target="/docProps/app.xml" Id="Re0fb9d68aa544418" /><Relationship Type="http://schemas.openxmlformats.org/officeDocument/2006/relationships/officeDocument" Target="/ppt/presentation.xml" Id="R58a527957ece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0e3f5881564fde"/>
  </p:sldMasterIdLst>
  <p:notesMasterIdLst>
    <p:notesMasterId xmlns:r="http://schemas.openxmlformats.org/officeDocument/2006/relationships" r:id="Rc505883d3f0843b2"/>
  </p:notesMasterIdLst>
  <p:sldIdLst>
    <p:sldId xmlns:r="http://schemas.openxmlformats.org/officeDocument/2006/relationships" id="256" r:id="R3abe3c2a9c754781"/>
    <p:sldId xmlns:r="http://schemas.openxmlformats.org/officeDocument/2006/relationships" id="257" r:id="R7b36b3a8a16242af"/>
    <p:sldId xmlns:r="http://schemas.openxmlformats.org/officeDocument/2006/relationships" id="258" r:id="Rc49c9a6966e64346"/>
    <p:sldId xmlns:r="http://schemas.openxmlformats.org/officeDocument/2006/relationships" id="259" r:id="Rbaf3606bd830490a"/>
    <p:sldId xmlns:r="http://schemas.openxmlformats.org/officeDocument/2006/relationships" id="260" r:id="R1f46aaa833404a28"/>
    <p:sldId xmlns:r="http://schemas.openxmlformats.org/officeDocument/2006/relationships" id="261" r:id="R7783fe77fc5c4c7f"/>
    <p:sldId xmlns:r="http://schemas.openxmlformats.org/officeDocument/2006/relationships" id="262" r:id="R8ab7c0cb117f4f35"/>
    <p:sldId xmlns:r="http://schemas.openxmlformats.org/officeDocument/2006/relationships" id="263" r:id="R421d0312126d4525"/>
    <p:sldId xmlns:r="http://schemas.openxmlformats.org/officeDocument/2006/relationships" id="264" r:id="R69d8f2212412455c"/>
    <p:sldId xmlns:r="http://schemas.openxmlformats.org/officeDocument/2006/relationships" id="265" r:id="Rb501bf02122e45b4"/>
    <p:sldId xmlns:r="http://schemas.openxmlformats.org/officeDocument/2006/relationships" id="266" r:id="R79f7e4ecf6b1477a"/>
    <p:sldId xmlns:r="http://schemas.openxmlformats.org/officeDocument/2006/relationships" id="267" r:id="R37558ba56ff64dfa"/>
    <p:sldId xmlns:r="http://schemas.openxmlformats.org/officeDocument/2006/relationships" id="268" r:id="R5a3f352d47484969"/>
    <p:sldId xmlns:r="http://schemas.openxmlformats.org/officeDocument/2006/relationships" id="269" r:id="R7e6334ce47334a3d"/>
    <p:sldId xmlns:r="http://schemas.openxmlformats.org/officeDocument/2006/relationships" id="270" r:id="R5356c96b43d5413b"/>
    <p:sldId xmlns:r="http://schemas.openxmlformats.org/officeDocument/2006/relationships" id="271" r:id="R479169a6b66f46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0e3f5881564fde" /><Relationship Type="http://schemas.openxmlformats.org/officeDocument/2006/relationships/theme" Target="/ppt/theme/theme1.xml" Id="R777c08ec52614c9b" /><Relationship Type="http://schemas.openxmlformats.org/officeDocument/2006/relationships/notesMaster" Target="/ppt/notesMasters/notesMaster1.xml" Id="Rc505883d3f0843b2" /><Relationship Type="http://schemas.openxmlformats.org/officeDocument/2006/relationships/presProps" Target="/ppt/presProps.xml" Id="Rd62bea8e9547415e" /><Relationship Type="http://schemas.openxmlformats.org/officeDocument/2006/relationships/viewProps" Target="/ppt/viewProps.xml" Id="Rbe46f6a244664c32" /><Relationship Type="http://schemas.openxmlformats.org/officeDocument/2006/relationships/tableStyles" Target="/ppt/tableStyles.xml" Id="Rae6b94b1156140e0" /><Relationship Type="http://schemas.openxmlformats.org/officeDocument/2006/relationships/slide" Target="/ppt/slides/slide1.xml" Id="R3abe3c2a9c754781" /><Relationship Type="http://schemas.openxmlformats.org/officeDocument/2006/relationships/slide" Target="/ppt/slides/slide2.xml" Id="R7b36b3a8a16242af" /><Relationship Type="http://schemas.openxmlformats.org/officeDocument/2006/relationships/slide" Target="/ppt/slides/slide3.xml" Id="Rc49c9a6966e64346" /><Relationship Type="http://schemas.openxmlformats.org/officeDocument/2006/relationships/slide" Target="/ppt/slides/slide4.xml" Id="Rbaf3606bd830490a" /><Relationship Type="http://schemas.openxmlformats.org/officeDocument/2006/relationships/slide" Target="/ppt/slides/slide5.xml" Id="R1f46aaa833404a28" /><Relationship Type="http://schemas.openxmlformats.org/officeDocument/2006/relationships/slide" Target="/ppt/slides/slide6.xml" Id="R7783fe77fc5c4c7f" /><Relationship Type="http://schemas.openxmlformats.org/officeDocument/2006/relationships/slide" Target="/ppt/slides/slide7.xml" Id="R8ab7c0cb117f4f35" /><Relationship Type="http://schemas.openxmlformats.org/officeDocument/2006/relationships/slide" Target="/ppt/slides/slide8.xml" Id="R421d0312126d4525" /><Relationship Type="http://schemas.openxmlformats.org/officeDocument/2006/relationships/slide" Target="/ppt/slides/slide9.xml" Id="R69d8f2212412455c" /><Relationship Type="http://schemas.openxmlformats.org/officeDocument/2006/relationships/slide" Target="/ppt/slides/slide10.xml" Id="Rb501bf02122e45b4" /><Relationship Type="http://schemas.openxmlformats.org/officeDocument/2006/relationships/slide" Target="/ppt/slides/slide11.xml" Id="R79f7e4ecf6b1477a" /><Relationship Type="http://schemas.openxmlformats.org/officeDocument/2006/relationships/slide" Target="/ppt/slides/slide12.xml" Id="R37558ba56ff64dfa" /><Relationship Type="http://schemas.openxmlformats.org/officeDocument/2006/relationships/slide" Target="/ppt/slides/slide13.xml" Id="R5a3f352d47484969" /><Relationship Type="http://schemas.openxmlformats.org/officeDocument/2006/relationships/slide" Target="/ppt/slides/slide14.xml" Id="R7e6334ce47334a3d" /><Relationship Type="http://schemas.openxmlformats.org/officeDocument/2006/relationships/slide" Target="/ppt/slides/slide15.xml" Id="R5356c96b43d5413b" /><Relationship Type="http://schemas.openxmlformats.org/officeDocument/2006/relationships/slide" Target="/ppt/slides/slide16.xml" Id="R479169a6b66f46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e722dfec1a449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b64088de54234" /><Relationship Type="http://schemas.openxmlformats.org/officeDocument/2006/relationships/notesMaster" Target="/ppt/notesMasters/notesMaster1.xml" Id="Rbfde7d55c47e4f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afa26eb46041de" /><Relationship Type="http://schemas.openxmlformats.org/officeDocument/2006/relationships/notesMaster" Target="/ppt/notesMasters/notesMaster1.xml" Id="Rd34456682a234c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3d375872774ba5" /><Relationship Type="http://schemas.openxmlformats.org/officeDocument/2006/relationships/notesMaster" Target="/ppt/notesMasters/notesMaster1.xml" Id="R8bd1b0f0878f4c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b8d6101acd47ba" /><Relationship Type="http://schemas.openxmlformats.org/officeDocument/2006/relationships/notesMaster" Target="/ppt/notesMasters/notesMaster1.xml" Id="Ra29fa19096e940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0721991d004501" /><Relationship Type="http://schemas.openxmlformats.org/officeDocument/2006/relationships/notesMaster" Target="/ppt/notesMasters/notesMaster1.xml" Id="Rcda6a34abf77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e900cef9e44a3c" /><Relationship Type="http://schemas.openxmlformats.org/officeDocument/2006/relationships/notesMaster" Target="/ppt/notesMasters/notesMaster1.xml" Id="R6f2caa29db95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04c4eb8c6c4bda" /><Relationship Type="http://schemas.openxmlformats.org/officeDocument/2006/relationships/notesMaster" Target="/ppt/notesMasters/notesMaster1.xml" Id="R0456dbcf50314c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bf715315134c91" /><Relationship Type="http://schemas.openxmlformats.org/officeDocument/2006/relationships/notesMaster" Target="/ppt/notesMasters/notesMaster1.xml" Id="Ra1690d0b399c41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80274965f94f3f" /><Relationship Type="http://schemas.openxmlformats.org/officeDocument/2006/relationships/notesMaster" Target="/ppt/notesMasters/notesMaster1.xml" Id="Ref7cf4bc54c745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6843d14f184fd7" /><Relationship Type="http://schemas.openxmlformats.org/officeDocument/2006/relationships/notesMaster" Target="/ppt/notesMasters/notesMaster1.xml" Id="Rec3f18cf211a42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2c0e3fe64442d4" /><Relationship Type="http://schemas.openxmlformats.org/officeDocument/2006/relationships/notesMaster" Target="/ppt/notesMasters/notesMaster1.xml" Id="R81e51d33fa7949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1ecd137f7b49c2" /><Relationship Type="http://schemas.openxmlformats.org/officeDocument/2006/relationships/notesMaster" Target="/ppt/notesMasters/notesMaster1.xml" Id="R931e9c5058c646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a75f0b01dd4400" /><Relationship Type="http://schemas.openxmlformats.org/officeDocument/2006/relationships/notesMaster" Target="/ppt/notesMasters/notesMaster1.xml" Id="R6d7c3ed4df184f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0dd78b50094132" /><Relationship Type="http://schemas.openxmlformats.org/officeDocument/2006/relationships/notesMaster" Target="/ppt/notesMasters/notesMaster1.xml" Id="R28e1480a69ca43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ace8efaf5a4eb5" /><Relationship Type="http://schemas.openxmlformats.org/officeDocument/2006/relationships/notesMaster" Target="/ppt/notesMasters/notesMaster1.xml" Id="R4e8ccfe62f3643e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3d09570d39f47e2" /><Relationship Type="http://schemas.openxmlformats.org/officeDocument/2006/relationships/notesMaster" Target="/ppt/notesMasters/notesMaster1.xml" Id="R7d67d2dfc14848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11f979353e435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c036aa2f9f84a87" /><Relationship Type="http://schemas.openxmlformats.org/officeDocument/2006/relationships/slideLayout" Target="/ppt/slideLayouts/slideLayout2.xml" Id="Rac48947ce54249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48947ce54249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99ead081349a4" /><Relationship Type="http://schemas.openxmlformats.org/officeDocument/2006/relationships/notesSlide" Target="/ppt/notesSlides/notesSlide1.xml" Id="R38b4031ef3a043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bc191083048bf" /><Relationship Type="http://schemas.openxmlformats.org/officeDocument/2006/relationships/notesSlide" Target="/ppt/notesSlides/notesSlide2.xml" Id="R744f3e14b7ee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8a6e79eb2346b7" /><Relationship Type="http://schemas.openxmlformats.org/officeDocument/2006/relationships/notesSlide" Target="/ppt/notesSlides/notesSlide3.xml" Id="Rbb94ae7e67854b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28f702fd3c4b60" /><Relationship Type="http://schemas.openxmlformats.org/officeDocument/2006/relationships/notesSlide" Target="/ppt/notesSlides/notesSlide4.xml" Id="R606137b8c596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9e284062bf4208" /><Relationship Type="http://schemas.openxmlformats.org/officeDocument/2006/relationships/notesSlide" Target="/ppt/notesSlides/notesSlide5.xml" Id="R7b7f77e467aa44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a62fc786594bc7" /><Relationship Type="http://schemas.openxmlformats.org/officeDocument/2006/relationships/notesSlide" Target="/ppt/notesSlides/notesSlide6.xml" Id="Rb4213057e5d146f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2af2dfa06e4c12" /><Relationship Type="http://schemas.openxmlformats.org/officeDocument/2006/relationships/notesSlide" Target="/ppt/notesSlides/notesSlide7.xml" Id="R540c3f73190f40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4b3ee5788e4cd2" /><Relationship Type="http://schemas.openxmlformats.org/officeDocument/2006/relationships/image" Target="/ppt/media/image.png" Id="R1a24d886a8ef455d" /><Relationship Type="http://schemas.openxmlformats.org/officeDocument/2006/relationships/notesSlide" Target="/ppt/notesSlides/notesSlide8.xml" Id="R3be0e551711945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53abc061b24565" /><Relationship Type="http://schemas.openxmlformats.org/officeDocument/2006/relationships/notesSlide" Target="/ppt/notesSlides/notesSlide9.xml" Id="R4927acf1162b4d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a84a1c18a43c7" /><Relationship Type="http://schemas.openxmlformats.org/officeDocument/2006/relationships/image" Target="/ppt/media/image2.png" Id="R91ee27a614754fdf" /><Relationship Type="http://schemas.openxmlformats.org/officeDocument/2006/relationships/image" Target="/ppt/media/image3.png" Id="R7bf105b019204774" /><Relationship Type="http://schemas.openxmlformats.org/officeDocument/2006/relationships/image" Target="/ppt/media/image4.png" Id="Rf61f3d98b04d4be1" /><Relationship Type="http://schemas.openxmlformats.org/officeDocument/2006/relationships/notesSlide" Target="/ppt/notesSlides/notesSlide10.xml" Id="Rc4e55c01489840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cc5113f0924cd3" /><Relationship Type="http://schemas.openxmlformats.org/officeDocument/2006/relationships/notesSlide" Target="/ppt/notesSlides/notesSlide11.xml" Id="R13c1bb4848144cf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3cdf42f0284ab4" /><Relationship Type="http://schemas.openxmlformats.org/officeDocument/2006/relationships/notesSlide" Target="/ppt/notesSlides/notesSlide12.xml" Id="Rf54d4e845afe45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a6ba9d37e842a7" /><Relationship Type="http://schemas.openxmlformats.org/officeDocument/2006/relationships/image" Target="/ppt/media/image5.png" Id="R073eaf547e5a40b1" /><Relationship Type="http://schemas.openxmlformats.org/officeDocument/2006/relationships/image" Target="/ppt/media/image6.png" Id="R3397ccb962fa44a8" /><Relationship Type="http://schemas.openxmlformats.org/officeDocument/2006/relationships/image" Target="/ppt/media/image7.png" Id="Rb28dbb78f67245f5" /><Relationship Type="http://schemas.openxmlformats.org/officeDocument/2006/relationships/notesSlide" Target="/ppt/notesSlides/notesSlide13.xml" Id="Ra4c7d8980c2544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ab05ec64e04e53" /><Relationship Type="http://schemas.openxmlformats.org/officeDocument/2006/relationships/notesSlide" Target="/ppt/notesSlides/notesSlide14.xml" Id="R7b0e8535158646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3b669794d541f1" /><Relationship Type="http://schemas.openxmlformats.org/officeDocument/2006/relationships/notesSlide" Target="/ppt/notesSlides/notesSlide15.xml" Id="R1fb2383c07644f7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15b4ec69494246" /><Relationship Type="http://schemas.openxmlformats.org/officeDocument/2006/relationships/notesSlide" Target="/ppt/notesSlides/notesSlide16.xml" Id="R703dc65b312a490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599FA-B49D-473C-8F31-61B073C1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1AECB-CA28-496B-A616-E0B124B2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832976F-FF16-44EC-95CC-64FFE39F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0DD2A7-0930-4810-9137-9CCB286B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DD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1DDD5"/>
                </a:solidFill>
                <a:latin typeface="Avenir Next"/>
                <a:ea typeface="Avenir Next"/>
                <a:cs typeface="Avenir Next"/>
              </a:rPr>
              <a:t>FINAL REPORT SLIDES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6C757-B7F1-4102-B851-2C3F0415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66800"/>
            <a:ext cx="8191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Chandra X-ray luminosity and halo-mass scaling relations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6532C-64B8-4E8A-A685-93E18D7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00300"/>
            <a:ext cx="647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D4C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8D4C8"/>
                </a:solidFill>
                <a:latin typeface="Avenir Next"/>
                <a:ea typeface="Avenir Next"/>
                <a:cs typeface="Avenir Next"/>
              </a:rPr>
              <a:t>Weak-lensing calibrated CLASH + LoCuSS cluster analysis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9E1BF8-5878-4D6F-8429-223FAFA1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2095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1135D-A418-4A17-B760-ECA9C65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72025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7F908-4A4F-4F57-AFC6-DD209DF9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14925"/>
            <a:ext cx="1752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main clusters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253C2-A455-4ACA-9F9D-2D65254B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9590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exclude_bad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D49A2-6A39-4305-85F0-1BEC72E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2915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6C56A-F0D4-4C71-961D-2983ECF2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7202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1.08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0D830-FBCA-4B77-8D8A-62A05243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L_X-M500 slope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9DE47-DC76-47E2-8DAA-4844D54B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959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full-R500 baseline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7FCED-A481-402A-9122-D6CA89E9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29150"/>
            <a:ext cx="2190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D0597-BF9B-496A-A493-D15C3110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0.48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2F21F-18F8-47EC-B61E-662D2E9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14925"/>
            <a:ext cx="1847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T_X-M500 slope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AB392-16D3-4114-B37D-EA10669C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959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full-R500 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C66FED-CC83-4AA6-BC85-CDCF2A56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9055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Thesis: mass-based slopes are stable to core excision; L_X-T_X remains the noisiest relation.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8B77D6-7DBE-418D-81AA-CEDD00C4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FFC050-B677-49CE-B482-4147D059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Advanced Observational Astrophysics final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376FC-8911-4479-A2AE-A8292DF2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02551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686FE0-9BAD-4CCC-A9C5-AA69DBA8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8921524-0E47-4D9F-B345-1F6F5E7B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772682-8A55-45E0-BE53-7737EB3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TALK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B01AEA-8A7A-42A3-8BFE-CE5E0104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A 20-minute talk needs one causal chain, not a catalog of scripts.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8357CF-05B4-45B1-B725-AE77AA2A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The deck follows the same structure as the final report.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E5127-873F-4717-8158-ADB9F957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066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585F8-00C1-404E-82C4-83A4CC5A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2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BB112-41E8-49AC-BDAD-4636DF23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MOTIVATION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2837F-CA9B-4DA7-AB7A-91777A11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clusters + baryons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3001-4C75-43D6-A700-685E9D86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A2AE8-5F30-4BB8-9793-CD42D8299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24125"/>
            <a:ext cx="1619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C9753-C7B4-49B1-B898-549EF87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724150"/>
            <a:ext cx="1314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4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B92F3-30BF-43CE-BB44-9D8DD1E0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05150"/>
            <a:ext cx="1314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PHYSICS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60F58-06D8-4088-BE70-CF2C6AAF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90900"/>
            <a:ext cx="1314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M500 -&gt; potential -&gt; gas -&gt; X-rays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3DD30-640C-465E-9B8C-CF576B64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4296E4-A69C-4FB3-9F42-0DB4E423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24125"/>
            <a:ext cx="1714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1430">
            <a:solidFill>
              <a:srgbClr val="7A6E2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8BFA52-66D8-4ADD-A46D-4E99595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1409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4 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95E9BA-4CE0-4BA0-AF82-BA20F62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05150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SAMPLE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B387A-D736-487C-912D-1E167546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90900"/>
            <a:ext cx="1409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CLASH+LoCuSS and Chandra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B48EB9-443C-4BA2-B4BA-FBFDD249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8CAD8-A858-4322-8A7F-E54EA18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24125"/>
            <a:ext cx="1952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2039DA-01C2-405D-9450-9C16311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16478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5 min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75701-C39E-40F9-9912-404B55E2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16478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SPECTRA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04878A-9F00-408E-9B32-DE81930F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90900"/>
            <a:ext cx="16478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background treatment and Sherpa fits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4B33AD-47B4-4B59-875B-1DB85458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78353-A5C6-44C4-ADA4-986DDDF1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24125"/>
            <a:ext cx="1524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9ED9BE-E827-4616-8969-649DE07B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7241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3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8D7C94-E322-46C4-B828-B0CDC6F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105150"/>
            <a:ext cx="1219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RESULTS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73602E-4D4F-4E14-8905-D3C3C106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90900"/>
            <a:ext cx="1219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full-R500 and core-excised scaling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F24120-DA38-455B-AD38-CBAF376E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051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34ACB-148A-4822-A4A1-55815D97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524125"/>
            <a:ext cx="1066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A6E2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54BB5-D724-40FC-A911-D41B1C99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24150"/>
            <a:ext cx="76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2 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4C9B7-0AD7-4FCC-BF2F-D6A33DFF1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051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CLOSE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79E3C-185C-45EC-9AF0-7B7D218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90900"/>
            <a:ext cx="76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limits + conclusion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3F760D-21E4-4500-8B0B-608046E6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895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878760-91AA-48B2-8B62-18324598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62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CE864-2018-4102-81F7-C466A65A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95850"/>
            <a:ext cx="8629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Presenter cue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AC983D0-1DB8-45FC-83C9-40DF5D7E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62550"/>
            <a:ext cx="8629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Keep returning to the same question: how well do hot-gas observables trace weak-lensing halo mass once real cluster physics and data quality enter?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87BC8A-2B96-4114-9355-19833318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4F8D2-67C6-4783-836C-760436C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Source: final report Appendix, 20-minute presentation guide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9CFD1B-1498-4FD7-9821-B209A8F2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16663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7CE4E0-C79D-43B9-BF56-A1510ABA8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CA6092-D3E0-48DC-8203-E9659EA7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415EFD-04CA-4DA4-BD23-5EBCD68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MOTIVATION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1CFD66-3783-43A9-B8AC-5940F62F5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Galaxy clusters are where cosmology and baryonic physics meet.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4EBFE-3C1E-4012-9717-32CDE478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They are both mass tracers and laboratories for hot plasma.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210EC-58DA-4449-85B7-A47D2064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43064-6427-4EAA-B76E-E43FF34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Cosmology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168C37-52D4-4976-B259-2C79FB50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65510-BECF-40AD-9D42-D03D752A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622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Most massive gravitationally bound systems in the late-time Universe.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EE8DC-9A60-47FB-8105-8CAA5B88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E9046-0D10-4346-B67F-118D91BB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Abundance and growth trace structure 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54AA5-E115-45CE-817F-6DBB1136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4B8EF-68B5-4841-9DF9-7370A5A8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Need a mass anchor independent of X-ray assumptions.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23BF5-E075-4632-9AE4-C9409B01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9800"/>
            <a:ext cx="3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68779-3969-4983-9A0E-C48F939E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22885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Baryonic physics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0105D-F911-4AE5-BA10-3F94E740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36CD22-EA0E-4BCE-818E-EC5F12F5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622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ICM contains hot gas, metals, shocks, turbulence, and AGN feedback.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E4C50-E4AC-4494-940D-38897D0B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48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CD3328-E6C0-4409-836C-E0172175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3718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Gas density and temperature set X-ray luminosity.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9E6C66-4E27-4E04-BE27-89C804F8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03BA83-B452-41FA-BB39-877B8BF0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81450"/>
            <a:ext cx="432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Scatter reveals cooling, mergers, clumping, projection, and systematics.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13F39D-E7E9-4B5B-AF56-88C44D7B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7429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D091A-A879-49A4-BB66-2C7AA63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5CFC3-CB41-4A5C-9F6A-77890AD3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76850"/>
            <a:ext cx="7105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Key question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79C7AC-446C-4939-B0F0-C9D366CE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543550"/>
            <a:ext cx="7105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Can Chandra-measured L_X and T_X trace weak-lensing M500 in a reproducible cluster sample?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317F75-94E0-465F-B4C6-360CB517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2A52F-6B61-4536-A805-BF3F0E155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report; background-only PPT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3C42D-B057-45B9-B95F-995EB45B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23807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B9960-89ED-4632-B2B4-D3FCBD6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6FBDB1-D710-45FE-9EE1-B18FB2E9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E5B38D-046A-4319-81E6-E68F6E01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PHYSICAL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D2D7-A057-45E0-9922-88678FD6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Halo mass sets the potential; the potential sets the X-ray observables.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DA0DE-26F0-4343-8045-568E95C7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This is the causal spine for the whole project.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4FC36-007E-4848-8B99-DF6A3E9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5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1B7FC-19BD-4158-AE08-C39481C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Halo mass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A0B696-7144-49A4-A4BC-CE3B9185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M500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1F4A1-ED69-4534-A744-91A196A5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05125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9943E1-E1B7-4923-8692-DE1719DC5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11B7A2-8FBB-422E-AD79-DE19D57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Potential depth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515D4-A10C-49D3-8909-EE185E39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5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deeper well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53A0C-0629-422D-96D2-FBC7032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05125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52DDAC-E3A5-49F3-8A7F-2716B5F8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7A6E2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968AEE-1E42-4ED9-B49B-27D5EC3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24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Gas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DAF17-7C22-4E38-AD79-AB94F062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T_X and n_e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BB290-F30D-4F88-A5C4-5069F42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05125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E0E64-5F54-457F-8DCA-D85439F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765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53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C9733E-0BF2-419E-9054-1381345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24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X-ray emission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3C79B2-EEFE-46F9-89FD-1D4159C5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05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L_X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A8664-0216-4AE9-90CE-60D6542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05125"/>
            <a:ext cx="361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62040B-755E-4D88-AB34-13504158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76500"/>
            <a:ext cx="1714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8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309A62-7169-483A-A96C-D514A01F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Scaling relation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38FEF-E664-4838-8EC9-16F34AF8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L_X-M, T_X-M, L_X-T_X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997E9-4DCC-49E8-8954-B1CD5930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33875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T_X-M500 is closer to gravitational physics; L_X-M500 is more sensitive to gas density, cores, feedback, and mergers.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0C5241-E748-4BAD-A5C1-1E553126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19700"/>
            <a:ext cx="619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5DDFE1-0DB5-413C-AB3D-1E104C11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197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9CE657-22FF-4E79-AD85-0B501B1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53050"/>
            <a:ext cx="5867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Why weak lensing?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36351-46B2-437E-861B-7BE5A5B9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19750"/>
            <a:ext cx="58674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It anchors the mass axis without assuming X-ray hydrostatic equilibrium.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EF15C-E62C-408C-95E4-F9ACCD26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C8D5EE-8714-4132-A220-036A1C21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report; background-only PPT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113C7B-8288-477D-BFA2-EB7A118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465872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D26D62-0BED-49EC-9C3E-F1071BCA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B41BE2-63FE-4225-96A7-CD160A88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C0627F7-2436-453C-A384-651B9FD7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THEORY 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6E0794-DC93-4616-B9F6-80BD31E0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Self-similar scaling is the clean gravity-only reference.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B204A-8317-4966-B3C9-DDECB07C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Real clusters add the astrophysics through slope changes and intrinsic scatter.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6C21D-21CD-40DE-80C0-97DE3EBB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762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5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08966-F7CC-4664-A823-1D57738D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Self-similar expectations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D8444-76FA-4FA9-9D1B-C4EC346B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000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21A22"/>
                </a:solidFill>
                <a:latin typeface="Menlo"/>
                <a:ea typeface="Menlo"/>
                <a:cs typeface="Menlo"/>
              </a:rPr>
              <a:t>T_X ∝ M500^(2/3) E(z)^(2/3)</a:t>
            </a:r>
          </a:p>
          <a:p xmlns:a="http://schemas.openxmlformats.org/drawingml/2006/main">
            <a:pPr algn="l">
              <a:defRPr sz="1875" b="0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21A22"/>
                </a:solidFill>
                <a:latin typeface="Menlo"/>
                <a:ea typeface="Menlo"/>
                <a:cs typeface="Menlo"/>
              </a:rPr>
              <a:t>L_X ∝ M500^(4/3) E(z)^2</a:t>
            </a:r>
          </a:p>
          <a:p xmlns:a="http://schemas.openxmlformats.org/drawingml/2006/main">
            <a:pPr algn="l">
              <a:defRPr sz="1875" b="0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121A22"/>
                </a:solidFill>
                <a:latin typeface="Menlo"/>
                <a:ea typeface="Menlo"/>
                <a:cs typeface="Menlo"/>
              </a:rPr>
              <a:t>L_X ∝ E(z) T_X^2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58E62-E17B-4EC5-840F-9BAA9A82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Use this as the dashed comparison line, not as a claim that all clusters are simple.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8D139-5065-4F09-B49E-F2F7EAF2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4637F-E3D5-4EDE-A3F2-965AEA0B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What creates scatter?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72EC3-89F6-48D3-BDC2-06241464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28864-D413-42CF-A293-B9CA25DF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480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cooling and AGN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8D4C7-61D7-465D-8A0C-545B8C45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81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05228-9215-4A19-AEBF-0BCF1DF4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052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merger shocks and disturbance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440E0-AF30-4964-83FE-939180FF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DADE6A-DB46-447D-8524-27141271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624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gas clumping and projection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1D8BD-04BE-445F-8A51-D4020C3C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95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30CC9B-4A2E-4C69-91E2-86198EB5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9600"/>
            <a:ext cx="3943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background and aperture systematics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A3A9F-3F8A-4820-A7E6-B15DFD77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868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A6E2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39BFB-0466-4CDA-A71B-12408487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292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E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8E9A89-AF61-4470-9F15-41320B0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562600"/>
            <a:ext cx="836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Core excision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B6B3EA-C17A-43B9-959F-AAC3DF38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829300"/>
            <a:ext cx="8362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If central gas dominates L_X, removing 0.15 R500 should change the relation. Stability argues the mass trend is not only a cool-core artifact.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ACDCB1-2FE8-4588-A67F-1C7CDAAC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BE043-0CA8-45CE-85FE-3630B2B1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Kaiser 1986; Arnaud 2005; Pratt 2009; final report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62C4E-9D40-4E13-B2E3-3645C2FD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56111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713E3-3B23-4B31-9B61-CCA98116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657268B-76FC-4A2F-99BB-3EB784D2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344914-A907-4B60-8C4E-4159DE1B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17E93-B40C-4863-B39C-5F322E4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The main sample is 18 weak-lensing calibrated clusters after quality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2013C-6033-4605-A2B0-3B65E99F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CLASH and LoCuSS supply the independent M500 anchor.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E910C-E13E-4EC2-B839-D4A27FF5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571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A6E86B-AFB1-480A-A7C0-6806FFDF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CFAA0-6C75-47BF-98A4-738C7042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parent clusters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15644-8A27-4CC0-8550-9543B24C1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337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CLASH + LoCuSS with Chandra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EFDD-89DF-427A-AB98-734197C7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90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6D44A-AE48-4960-AA0B-72682098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38400"/>
            <a:ext cx="1571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A6E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15C56-1A4B-44DB-9053-9C5D7AB0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−7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F830C3-4771-401C-BBCF-A5971E1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90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visual/aspheric drop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AEB75-68D0-467F-8A0E-C534DCE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morphology or projection unsuitable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CEDB9-A5E3-4314-B3A9-16EB11C1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622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D410-69DA-4184-B03A-20BCD9C5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14550"/>
            <a:ext cx="1571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7A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1E9F9-7AC2-43FE-A58B-23745260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23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F0B14-5452-4B43-92CF-D4DFA413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processed clusters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B26FA-5863-4C68-B9A5-355385F7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337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completed Chandra/CIAO spectral branch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A3A12-15DE-4735-8EC6-D1B8D8C2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9080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67A57-877B-4D83-BBB1-38251E8D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38400"/>
            <a:ext cx="1571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A6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0FCD8-6178-42FB-AEC3-ECDC9B4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2890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−5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7A067-3AB4-45F0-8E48-891C1A32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bad spectral fits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20893-99F3-4993-B341-FF4169BE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5755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failed, unstable, or inconsistent spectra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5AB7FF-0B9D-4E68-B9CC-5AEFE20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4C2C8-F01B-49E1-92AF-5F72E46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14550"/>
            <a:ext cx="1571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553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7C0A4-FE89-48F8-9241-939F0DF8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050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936A40-B17B-48BF-AE04-8B042E4C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670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main scaling sample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1E53-7534-474F-B9A7-66C36EA4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33700"/>
            <a:ext cx="123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11 good + 4 acceptable + 3 high/suspect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31F3C9-D22B-44A7-9233-BEC621BB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876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0F7A4C-97E7-4D3E-ACE2-3E5B3BA4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00625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733374-B9DB-49CE-8A48-6EE27679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33975"/>
            <a:ext cx="843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Mass calibration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2D3291-BABA-43F6-BC0C-1466CE10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00675"/>
            <a:ext cx="8439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CLASH masses use Umetsu et al. (2016); LoCuSS masses use Okabe et al. (2016). The fit does not calibrate X-ray observables against X-ray hydrostatic masses.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12D70F-2AD8-48F3-BB1D-5810D1C1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12D097-680B-4151-BFA8-5A055EC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report; pipeline_status.csv; workflow_plan.md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4723B3-6B28-4691-B2B4-9E22E7DF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264378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B3D97-9C41-497A-90CD-B7530FA5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569343-69DB-42EA-869E-C83113BD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DDF83E-4A83-465D-BBC1-655D18E0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MEASUREMENT CHAIN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E8F779-4641-413F-9A3B-74C18390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The pipeline separates imaging QA from per-ObsID spectral response.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22682-8B86-42E7-83C4-72155AE7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Merged images help define regions; spectra keep each ObsID's ARF/RMF.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246C0-8326-4654-926C-A4E17C10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6C4B7-62C5-4A02-BC52-C70B75AA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CD86-047B-458A-A4ED-CC2968BE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Chandra archive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1538ED-64D7-4B0D-9FB0-AF3D54AD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secondary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F7EAD-D3C7-4E9A-B603-00B0E0BF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6FD45-9215-4136-A677-1D04159D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6342BF-AB51-4C53-B26E-E835C34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81EE-D3E3-41DD-93D9-50604D4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chandra_repro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6E74E-614B-47A7-9E54-75EAB59E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calibrated event files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91D7B-DF91-4494-877F-4CECA2E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717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7E30D-E267-4E62-94C0-BDA8F900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C5A43-4928-401A-B464-88CA0C07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384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6A211-8751-4D64-B8D2-D94C4063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merge_obs /</a:t>
            </a:r>
          </a:p>
          <a:p xmlns:a="http://schemas.openxmlformats.org/drawingml/2006/main">
            <a:pPr algn="l">
              <a:defRPr sz="12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wavdetect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4F119-5774-4850-B7AC-E49636F4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003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visual QA and masks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13A7C9-5E64-4A66-8A8B-B827B40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6C5DC-DA07-4F3D-86D2-397CDA91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D386A4-B3FC-421B-9845-BFC3F199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386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specextract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50F8F6-932A-4180-A033-728C479E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source/background spectra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04312B-B4BA-412D-B01F-B111D5B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DE567-CDD7-48B4-9A2D-A4AFE3DA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862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9383D-98B7-4BC0-99EC-5F8E7A5D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964CDC-DD65-44C3-ACBC-15B49DE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386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Sherpa WSTAT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12C105-71E8-4D21-A911-C4AD7A41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19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T_X and L_X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E66054-C860-4B26-ABCB-6D3F4A64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910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C58513-080D-420E-9ED0-83A7014C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276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F67D3-ED78-4623-82F0-554B9FF1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D2E011-AB50-46AB-82A7-D9E94B51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linmix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B752C-9598-4B59-BC73-6F07BB11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19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scaling slopes and scatter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E4C6B-93EB-4D8F-82B7-5572FD6A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1020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Critical workflow statement: never fit spectra from merged event files when per-ObsID responses matter.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CC988D-069F-4B5B-836B-07309ADD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F5A73D-F152-4202-B907-9C863EF4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report; src/01_reduction; src/02_spectral; src/03_scaling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D60B4F-88AC-404C-8C60-37FA44E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5858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94C2CE-6CF6-4EB6-AEA7-77240A55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BACE74D-8F2B-47A3-9F6D-206AB537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052361-6A3E-42BD-B927-003DCE79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SPECTRAL FITTING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4F693-BBAF-4B2B-BF3A-339324B5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Background treatment is the technical center of the X-ray measurement.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8B1E9-CB62-402C-8411-CB57B622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Particle background, sky background, and ICM source model are fit with WSTAT.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8717F-89EA-4E01-A519-A635BCC3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762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4d886a8ef455d"/>
          <a:stretch xmlns:a="http://schemas.openxmlformats.org/drawingml/2006/main"/>
        </p:blipFill>
        <p:spPr>
          <a:xfrm xmlns:a="http://schemas.openxmlformats.org/drawingml/2006/main">
            <a:off x="1835394" y="2057400"/>
            <a:ext cx="4196862" cy="3848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FACE5-B0D2-45B8-ACB2-4CDC1AA6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71700"/>
            <a:ext cx="3429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76AE0-C26A-41A6-845D-9F005F8F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71700"/>
            <a:ext cx="57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0C4C5-ECCC-412C-A3D6-8194D6B4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Model ingredients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42C43-76E1-42F9-AEC1-852E89E9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3105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absorbed APEC ICM; blank-sky particle background renormalized in 9.5-12 keV; LHB + Galactic halo + CXB sky components; fit band 0.7-7.0 keV.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BA0A0-80AD-496D-9EE4-A646C8F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855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2B4B3-6ECA-49AA-94E0-4E9EC226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0525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7C3E0-96B7-4A5E-BE15-E0619829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3105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Why it matters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321BB-76A0-4322-9CDB-66CEA145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105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A small hard-background mismatch can bias kT high. The QA plot separates raw source/background from the net source and folded model.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E8AFC-D428-4583-BB28-8E2CC1B7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07EB29-FB3A-4AEF-8F85-1D88D69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Figure: output/figures/spectral/Abell_0209_fit.png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0992E2-87C8-4338-8B8C-D475AAA52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8562518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768DC-0E9E-472C-92FC-F7A7E2EA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EA334A-8BCE-4FF2-9745-50AB2C05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85DD82B-86E2-4D22-A7B7-E904E83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SCALING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96821-659F-4C54-AE02-6BE1335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The fit reports slopes and intrinsic scatter at fixed self-similar evolution.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AD10E-A0E2-4AA2-9375-B274E8B6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The pivot controls the reported normalization, not the physical slope.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54FA8-F0D4-45E1-BAAF-DD6B7CA0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F7A8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B3362-CDF1-4B42-AA37-25ADC280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76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121A22"/>
                </a:solidFill>
                <a:latin typeface="Menlo"/>
                <a:ea typeface="Menlo"/>
                <a:cs typeface="Menlo"/>
              </a:rPr>
              <a:t>log10[Y / E(z)^γ] = α + β log10[X / X_piv]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607F3C-D851-4827-BA78-AFAD7D75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76600"/>
            <a:ext cx="45529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linmix handles measurement errors in both axes and reports intrinsic scatter in dex.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4B4EE-7FBA-40C4-84F9-CABE1804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B855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CACFC-CE9D-4455-B73B-EECC412C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3143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Current pivots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90A5-4247-4A54-B354-AFBEF75B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95600"/>
            <a:ext cx="304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21A22"/>
                </a:solidFill>
                <a:latin typeface="Menlo"/>
                <a:ea typeface="Menlo"/>
                <a:cs typeface="Menlo"/>
              </a:rPr>
              <a:t>M500 pivot = 3e14 Msun</a:t>
            </a:r>
          </a:p>
          <a:p xmlns:a="http://schemas.openxmlformats.org/drawingml/2006/main">
            <a:pPr algn="l">
              <a:defRPr sz="1800" b="0">
                <a:solidFill>
                  <a:srgbClr val="121A22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21A22"/>
                </a:solidFill>
                <a:latin typeface="Menlo"/>
                <a:ea typeface="Menlo"/>
                <a:cs typeface="Menlo"/>
              </a:rPr>
              <a:t>T_X pivot = 5 keV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A7D71-8C67-4DB7-B2D8-D5704A1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14875"/>
            <a:ext cx="8477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A6E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2D5E9-32E9-4481-BBF0-FF3A0737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14875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E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AED919-B1B0-467C-BF6E-FB22F3AC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48225"/>
            <a:ext cx="8153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Good-only caveat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5B9CE-CCAB-4D5E-AE7F-8FA6F8E1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114925"/>
            <a:ext cx="815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The good-only clusters sit well above 3e14 Msun, so alpha is extrapolated and strongly degenerate with beta. This does not require changing the headline slope conclusion.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025360-6CE2-41BD-A1E7-D85341F5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29CA96-9E8F-497B-B377-8358D87B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report; memory/pivot_normalization_analysis.md; Kelly 2007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3460C-22AE-49CD-9A4D-28085F73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35412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5A63E8-29E7-43FB-9C51-D1C7755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012EA6-4C5C-4710-B582-90AD50DF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D0A99D-4CF1-4CED-884C-65F8E8EA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MAIN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7C6C9-93D8-41D9-AB16-E41EC947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Full-R500 scaling recovers stable mass trends, with L_X-T_X the noisy relation.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44683-34EB-4CA1-9431-4E22AF44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Baseline sample: 18-cluster exclude_bad; fixed self-similar redshift evolution.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4D0AAD-A41D-418A-B9E6-BB01AAB4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3676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e27a614754fdf"/>
          <a:stretch xmlns:a="http://schemas.openxmlformats.org/drawingml/2006/main"/>
        </p:blipFill>
        <p:spPr>
          <a:xfrm xmlns:a="http://schemas.openxmlformats.org/drawingml/2006/main">
            <a:off x="514350" y="2112399"/>
            <a:ext cx="3524250" cy="272845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9CE10-94A3-438A-83F1-F64379C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05000"/>
            <a:ext cx="3676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105b019204774"/>
          <a:stretch xmlns:a="http://schemas.openxmlformats.org/drawingml/2006/main"/>
        </p:blipFill>
        <p:spPr>
          <a:xfrm xmlns:a="http://schemas.openxmlformats.org/drawingml/2006/main">
            <a:off x="4370510" y="1981200"/>
            <a:ext cx="3450981" cy="2990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F3889-F7C2-460D-A71D-8903AD92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3676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f3d98b04d4be1"/>
          <a:stretch xmlns:a="http://schemas.openxmlformats.org/drawingml/2006/main"/>
        </p:blipFill>
        <p:spPr>
          <a:xfrm xmlns:a="http://schemas.openxmlformats.org/drawingml/2006/main">
            <a:off x="8153400" y="2112399"/>
            <a:ext cx="3524250" cy="272845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58921-4B7D-4432-BB87-ED5D8B29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DFFA6-7597-49BD-9B96-837FBF9A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0.169 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4C503-B9CC-4367-B3C1-A3261130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97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L_X-M scatter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3A2AF-FD08-45D2-891C-3EBDCD56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E9D3C-E169-45B2-BA40-F9B6DD44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76875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0.117 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ECD73D-9129-4D4B-9A6F-CCC4F00F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8197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T_X-M scatter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60217-F025-4DB3-BE35-F31EF482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334000"/>
            <a:ext cx="2476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C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694EA-0994-4DD1-8324-401AC94C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76875"/>
            <a:ext cx="2133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0.227 dex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AC9C5-45C7-4079-A1FB-B9319E6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819775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L_X-T_X scatter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44BDA6-547D-4788-B2D1-E25C873D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C57AB-C4C6-4B26-A08E-CE5290D6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Figures: output/figures/scaling/*exclude_bad.png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E8EAC-C970-4FE5-93AA-26AAB6D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21412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415B5-CB8B-4F31-8365-206291DE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0CFFCE5-485D-4E85-AAA6-206F1C1C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E56B61E-1455-4FDF-8C63-49FC39B3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RESULT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FD206-8729-4104-A582-356D842A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Temperature is the cleaner mass proxy; luminosity carries more gas-density physics.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B3661-AB28-44C8-B74F-D6AF1912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All three relations are broad-uncertainty fits, but their roles differ.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D7480-303A-454D-B0F4-599AA567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65722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C8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65CA3-2730-46D1-A9D5-52BE1FEC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05050"/>
            <a:ext cx="12858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Relation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09FBF-A3BF-480C-B2DB-925FEB00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305050"/>
            <a:ext cx="1762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beta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CD2DD-FA6A-4F3D-931C-4AECAEA5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050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scatter 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9383E-2DB4-45C8-843B-2F070547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88DB2-E131-4686-BD12-997A5FFC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43175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C1082-2E4E-4D34-BC14-ABC9D7F7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1209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L_X-M500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5E0260-E5EC-4737-846C-5693B1BF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609850"/>
            <a:ext cx="1685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1.08 -0.49/+0.53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39F99-4189-4AC4-836A-83496C18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0.169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91E04-F0B9-4466-A7F4-E5474DD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098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density-sensitive mass trend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5C945C-CF43-4A25-A38A-81E622FA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C4344-772D-4B23-B036-5393BDC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1209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T_X-M500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70CB42-23DA-4F8F-80DA-A6C9E20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162300"/>
            <a:ext cx="1685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0.48 -0.25/+0.26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3124F-296B-46B5-A2A9-BC3D9158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6230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0.117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55403A-0B5B-476C-B2CB-046547A2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6230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closest to gravitational potential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FB67D-EB8E-4EA8-8C69-9F65BAB5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6305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541EE8-C362-4E62-8379-5CB94167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12096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L_X-T_X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58B83C-E40F-4685-BD0C-2B835974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714750"/>
            <a:ext cx="16859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0.76 -0.41/+0.43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44A1C-0202-4A83-A3EC-804C392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14750"/>
            <a:ext cx="1162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0.227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BACCBF-B6CD-4303-A899-8879BD08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14750"/>
            <a:ext cx="1924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noisiest internal X-ray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FBB309-8112-470E-9CC9-6F8DA951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7A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192B07-4F4F-4476-AF5C-FE75615A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Speaker emphasis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5ED2D-3466-4B25-A13A-525E1463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4003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Do not oversell the numerical precision. The important result is that both mass-based slopes are consistent with the expected broad scaling picture within current uncertainties.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D156A3-FF16-4981-9CC1-9CDC631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DDD5"/>
          </a:solidFill>
          <a:ln xmlns:a="http://schemas.openxmlformats.org/drawingml/2006/main" w="9525">
            <a:solidFill>
              <a:srgbClr val="B8553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68B610-272D-4CBF-B128-4AC09CEA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48150"/>
            <a:ext cx="2171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headline: mass-based relations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000596-B971-4FBF-AF1B-C8805562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0C7D4D-BCE4-4DD7-98A9-BA6C759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Source: output/products/final_scaling_table.csv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428E44-498B-4A32-AD6D-ECFBA0F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75825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862B51-4A83-4A47-84E9-55F5E4EB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C9DF365-F370-479C-8FE5-D1F02D52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7A5920-1E3C-4FD1-A268-0012E8EB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CORE EXCISION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69EBC-5E58-45AC-AC07-E855264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Removing the core preserves the mass-based slopes at current precision.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C1B96-8B54-40A3-A53E-B4C8CFE1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Core-excised aperture: 0.15-1.0 R500, same 18-cluster exclude_bad sample.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BB918C-3B4E-428A-9744-E882007D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685800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C8B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DC679-F8D8-4EE7-9199-894301CF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Relation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1DC60-7642-4322-813F-E6794193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352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full beta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665C0-E1EB-47B5-A753-6F69505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52675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core beta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7F48E-ACE3-4FFF-A2D0-4004DC20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5267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scatter full -&gt; 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AA1137-90EB-46C5-BFB7-E83C1584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4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12B42-C755-49FA-AA23-0FEF5D2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5747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L_X-M500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BC5F1-5B71-4179-AECC-21093A7C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5747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1.08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C0739D-E276-42FF-8C55-7975ECE8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5747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1.16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C13A9D-ED10-47F3-8A1F-9E322062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5747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0.169 -&gt; 0.192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67522-7EBE-4E5D-ADDA-E8DAAF7E2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28975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06447-F561-4FD8-B5BB-20425A06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4802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T_X-M500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BCFE90-4830-4733-B787-4CCF6EA7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4802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0.48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D629C-21E5-40A9-80F0-DED32293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4802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0.56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E9AEDF-46AF-423F-A691-799C3B5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4802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0.117 -&gt; 0.134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63670B-AEB3-4079-8744-F1C0BAD5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19525"/>
            <a:ext cx="659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0F85C1-EE1C-47C9-A192-C269614F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1447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L_X-T_X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CCB9B3-964C-4B15-A285-55EAE5892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83857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0.76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9985-C55E-4AFC-8DF2-FA4D08B3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38575"/>
            <a:ext cx="1352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0.90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6D4D4-A74B-4756-B079-1A4E0290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38575"/>
            <a:ext cx="2114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0.227 -&gt; 0.230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1A0CFB-F40D-4FDB-8FC8-97338502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F7A8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8DDB27-BC10-41EB-B616-EDD13221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E69A0-3A3D-4FEB-BCCD-488D364A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66975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Updated provenance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FF4E9-8C29-4A95-94CF-A309CC99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33675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The pulled server products backfilled native Sherpa core-excised T_X confidence intervals for all 18 included clusters. The earlier 10% core-T_X fallback no longer applies.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85D861-B34B-4B48-A2FD-C8CCDBEF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7A6E2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3FE61D-E5BC-480D-B7BD-6BE77688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E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AC1E9-63B6-42BA-81DB-BBE2E095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Interpretation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E8CC25-162F-4AD2-9A5E-ED59BB74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6289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Core excision is a stability check, not a magic scatter reducer in this small heterogeneous sample.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0C9897-E0D7-42FA-BBE8-976E0237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EE3B311-4EDE-486D-B37B-77A07A40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final_scaling_table.csv; core_excised/tx_confidence_backfill_change_note.md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E8EE2E-3E82-4D29-9CE7-C53710FB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15821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0E6619-80BA-466A-84C5-9BE83B64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12FCF4-A20E-4BFE-A98D-F6B0A634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E278FCE-FB5E-4C02-AB48-5BCDB77E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CORE-EXCISED FIGURES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2F8C4-4191-4C6E-B6AB-C06C73EF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The core-excised figures support the same qualitative conclusion.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EC28A-4472-4319-8D1A-674BC496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Mass-based slopes stay inside current statistical uncertainty.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08EDD-FBDA-45F3-8B21-88E017BB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905000"/>
            <a:ext cx="3676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eaf547e5a40b1"/>
          <a:stretch xmlns:a="http://schemas.openxmlformats.org/drawingml/2006/main"/>
        </p:blipFill>
        <p:spPr>
          <a:xfrm xmlns:a="http://schemas.openxmlformats.org/drawingml/2006/main">
            <a:off x="514350" y="2183837"/>
            <a:ext cx="3524250" cy="272845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10C20-8415-4716-A1F5-1CE80B40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05000"/>
            <a:ext cx="3676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7ccb962fa44a8"/>
          <a:stretch xmlns:a="http://schemas.openxmlformats.org/drawingml/2006/main"/>
        </p:blipFill>
        <p:spPr>
          <a:xfrm xmlns:a="http://schemas.openxmlformats.org/drawingml/2006/main">
            <a:off x="4333875" y="2020888"/>
            <a:ext cx="3524250" cy="305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F678E5-3A39-4EAE-BBCA-5E1D4460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36766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7B9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dbb78f67245f5"/>
          <a:stretch xmlns:a="http://schemas.openxmlformats.org/drawingml/2006/main"/>
        </p:blipFill>
        <p:spPr>
          <a:xfrm xmlns:a="http://schemas.openxmlformats.org/drawingml/2006/main">
            <a:off x="8153400" y="2183837"/>
            <a:ext cx="3524250" cy="2728452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5EEE1-4362-470F-A5EC-5ACFD774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562600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Use this slide briefly: it is the visual check that the core-excised branch is not overturning the full-R500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C75D8C-D290-4AB5-96F8-C96B2021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C6ECB-E93E-49DB-86EE-688E1886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Figures: output/figures/scaling/core_excised/*exclude_bad.png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0E1574-0067-4781-BC32-9FC58A81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143609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98E54B-A4AA-4B0B-8C2E-7CAB0B98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3C43C44-9090-421E-8B24-F176018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CBA4DE4-ECF1-4080-B943-6E013F6C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ROBUSTNESS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AE15F-DD27-41D7-91FA-DAB6514B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Quality control protects the result from failed spectra and over-interpreted subsets.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0A678-260F-40A2-856C-726846C9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Bad systems are excluded; retained high systems are tested by sensitivity fits.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CE83F-E106-47E0-AD61-B516A239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3524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855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0FAEE-C771-4027-B0DA-FAF14100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Excluded from headline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A4EA37-FD2B-409F-B21E-5064B733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A64FE0-D7CC-4EBB-949A-B4DCF194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765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Abell 0697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19A01-092D-4ABD-9A85-6F4C2926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C6B4E-BA84-4808-931A-B16EB445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575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Abell 0750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1B4649-7512-43A1-BF2F-A038E501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46CFA8-E16D-44A9-99E1-4A2E9AF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MS2137-2353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F8335C-F375-4947-8B59-627680F4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F66DD-8300-40A4-A36C-294327EA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195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RXJ1347.5-1145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9A8848-2F3C-435A-8C68-C9E17FBF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E1700-E12C-4484-AAB7-B9BED717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2514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ZwCl 0857.9+2107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0E8E0E-A880-43FC-8138-B472C3AF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3143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F7A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69AC0-51F9-4869-9527-856FE5C9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812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Leave-one-out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B9871-407A-4590-AD7D-8C0BFC05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14650"/>
            <a:ext cx="2552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Removing Abell 0068, Abell 0611, MACSJ0647.7+7015, or MACSJ1206.2-0847 shifts L_X-M500 and T_X-M500 slopes by less than current statistical errors.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51592B-C56D-4476-B194-8ED05A37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434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F"/>
          </a:solidFill>
          <a:ln xmlns:a="http://schemas.openxmlformats.org/drawingml/2006/main" w="9525">
            <a:solidFill>
              <a:srgbClr val="1F7A8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EAE8E-14CC-4495-B631-DB27581C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19600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mass slopes stable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41D6A-C23F-4C69-9F62-94E66B24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7A6E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6BE04-1BF8-4E7F-A00C-C48C6B5D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81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Good-only caveat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3082B-389A-48F3-A7D8-6DFC6FEA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Good-only is a quality-sensitivity check, not the main relation. Its normalization at 3e14 Msun is extrapolated below the data cloud and strongly beta-correlated.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151094-5A1C-4E1A-B276-AE48E2A4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3434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7C9"/>
          </a:solidFill>
          <a:ln xmlns:a="http://schemas.openxmlformats.org/drawingml/2006/main" w="9525">
            <a:solidFill>
              <a:srgbClr val="7A6E2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83E4B-A4E8-463A-93F6-500A4BA0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19600"/>
            <a:ext cx="1885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A6E2C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A6E2C"/>
                </a:solidFill>
                <a:latin typeface="Avenir Next"/>
                <a:ea typeface="Avenir Next"/>
                <a:cs typeface="Avenir Next"/>
              </a:rPr>
              <a:t>do not move headline pivot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ACFAA-4D1C-4439-BF68-C7164773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2A1595-4EBE-4709-9AF5-98809EF0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sensitivity report; memory/pivot_normalization_analysis.md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804CBE-7AD1-4F20-9E40-38B1616B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7588429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B6B1E0-E745-418C-A403-62684C59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D4F46C1-DFCE-4DB4-BA8D-9BF2F5D0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8AE2165-ED49-4FB6-90D8-AE8554B8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LIMITATIONS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365E7-56E9-42BD-95B6-9542C543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21A22"/>
                </a:solidFill>
                <a:latin typeface="Avenir Next"/>
                <a:ea typeface="Avenir Next"/>
                <a:cs typeface="Avenir Next"/>
              </a:rPr>
              <a:t>The limitations are known, specific, and mostly about precision.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2A463-C009-4A3B-80FF-150583DC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This project demonstrates the complete chain; publication-level analysis needs stronger systematics control.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B8BB-F76A-404B-8E1F-D72CAD68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3067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4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0125A-6BF1-4A61-9470-FE017A1E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19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Sample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841C09-0DC5-41FB-A29A-059E0180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18 clusters limits slope discrimination and subset fits.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1280F-6A4E-420F-AC34-5D7185B8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67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4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61E6C-542D-4E33-9262-55D45038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19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Heterogeneity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74E0D-8BBC-41A7-ACF7-FE4F793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43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CLASH + LoCuSS selection and Chandra depth are non-uniform.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2F90F-A075-4FC1-B6FF-0590DBDC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09800"/>
            <a:ext cx="3067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4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C01A8-A1C3-46CF-A03B-1745C499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19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Backgrounds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FD7F9-4C12-4F1B-ABEE-AA1E1464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Blank-sky/XRB modeling remains the dominant technical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5387F8-7771-401B-8216-6B91FD4A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095750"/>
            <a:ext cx="3067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4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E2070-515B-4CFC-A5F6-99D27C3F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05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Outliers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934E9E-1BDD-4B84-8C22-4B12B584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291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High-T_X or low-quality spectra drive L_X-T_X sensitivity.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7E2A1-1100-4BC3-B922-CEF7A9CB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95750"/>
            <a:ext cx="3067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F"/>
          </a:solidFill>
          <a:ln xmlns:a="http://schemas.openxmlformats.org/drawingml/2006/main" w="10478">
            <a:solidFill>
              <a:srgbClr val="1F7A8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B337E-BB68-44B8-B6E3-A373C5F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053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8C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F7A8C"/>
                </a:solidFill>
                <a:latin typeface="Avenir Next"/>
                <a:ea typeface="Avenir Next"/>
                <a:cs typeface="Avenir Next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9F1869-39F4-460A-B457-D3680D48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2915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23303B"/>
                </a:solidFill>
                <a:latin typeface="Avenir Next"/>
                <a:ea typeface="Avenir Next"/>
                <a:cs typeface="Avenir Next"/>
              </a:rPr>
              <a:t>Audit remaining fallback intervals in excluded objects; consider hierarchical selection modeling.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24F61-7698-41FB-8AFB-E1F2D831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BC35C9-FEA9-4230-9C99-483A8676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Sources: final report Discussion; memory/final_report_server_tasks.md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752792-5486-41B5-B69F-3696FC65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7531535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C4F312-E485-408A-AD04-9403B527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A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C987F-C22A-4096-A530-7C8FE8A5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160D197-36FA-4418-BA2A-307B6A8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21FCABE-8560-47D8-8A39-8844811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1DDD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1DDD5"/>
                </a:solidFill>
                <a:latin typeface="Avenir Next"/>
                <a:ea typeface="Avenir Next"/>
                <a:cs typeface="Avenir Next"/>
              </a:rPr>
              <a:t>TAKE-HOME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DE4A4-622A-4847-B7D9-D79F5A1E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1049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Hot gas traces halo mass, but the cleanest result is mass-based.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77988-BF7E-4EBD-A8C4-189C7D95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35102-0CA1-445C-9412-98ED958C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336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7197D-1CBC-43C6-8547-CB98951C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336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rPr>
              <a:t>Chandra/CIAO -&gt; Sherpa WSTAT -&gt; canonical tables -&gt; linmix fits.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6FDEA9-7E47-4AA2-9294-1FC25715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575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51E87-96D6-4C90-A15E-800CF78C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76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4FD187-F529-47CC-8A90-67DF3E7A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766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rPr>
              <a:t>Full-R500 L_X-M500 beta=1.08; T_X-M500 beta=0.48.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B3E53-C0C6-4B66-890B-2FF94E0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00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EEF1B8-F0F4-42FC-A53A-ADD2C546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01955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37850-5806-4AD7-8A50-24835B8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1955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rPr>
              <a:t>Core excision preserves mass-based slopes within current uncertainty.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BF6D2-4D39-496F-B7D2-7DFB9933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B8553B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7BCA5-E105-4036-8417-30541260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762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Caution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B810A-6C77-478C-AB21-53BC986B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62500"/>
            <a:ext cx="619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8D4C8"/>
                </a:solidFill>
                <a:latin typeface="Avenir Next"/>
                <a:ea typeface="Avenir Next"/>
                <a:cs typeface="Avenir Next"/>
              </a:rPr>
              <a:t>L_X-T_X is shallow/noisy and should remain a consistency check.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83FAC-0E62-4845-AD0E-6D1ED07B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8102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Final sentence: Chandra hot-gas observables trace weak-lensing halo mass broadly as expected, but precision is limited by small-sample statistics and background-sensitive spectral modeling.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5387A-EE31-496A-BEF8-D72563FB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C8B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73C739-736C-4948-A4BD-C889CD75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Final report and refreshed scaling products, May 2026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9E3215-6AD4-4333-AC17-91F8282D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706B61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203217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2026-05-29T13:44:57.6450000Z</dcterms:created>
  <dcterms:modified xsi:type="dcterms:W3CDTF">2026-05-29T13:44:57.6450000Z</dcterms:modified>
</coreProperties>
</file>