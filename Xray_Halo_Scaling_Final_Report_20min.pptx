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1"/>
  </p:normalViewPr>
  <p:slideViewPr>
    <p:cSldViewPr snapToGrid="0">
      <p:cViewPr varScale="1">
        <p:scale>
          <a:sx n="115" d="100"/>
          <a:sy n="115" d="100"/>
        </p:scale>
        <p:origin x="22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9EB35228-2948-4415-83F2-FCBADD6527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1A2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889CCA-F57A-470D-9324-026B57C18E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76300" cy="685800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CEB2E8-EFB8-4F15-B6F2-B88BA61DA4D9}"/>
              </a:ext>
            </a:extLst>
          </p:cNvPr>
          <p:cNvSpPr>
            <a:spLocks noGrp="1"/>
          </p:cNvSpPr>
          <p:nvPr/>
        </p:nvSpPr>
        <p:spPr>
          <a:xfrm>
            <a:off x="1257300" y="552450"/>
            <a:ext cx="95250" cy="952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668B1FB-4347-459D-9F00-8140D4006749}"/>
              </a:ext>
            </a:extLst>
          </p:cNvPr>
          <p:cNvSpPr>
            <a:spLocks noGrp="1"/>
          </p:cNvSpPr>
          <p:nvPr/>
        </p:nvSpPr>
        <p:spPr>
          <a:xfrm>
            <a:off x="1428750" y="5143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F1DDD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1DDD5"/>
                </a:solidFill>
                <a:latin typeface="Avenir Next"/>
                <a:ea typeface="Avenir Next"/>
                <a:cs typeface="Avenir Next"/>
              </a:rPr>
              <a:t>FINAL PRESENTATION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D74630F-B6B4-44DF-BA6E-216451B9A671}"/>
              </a:ext>
            </a:extLst>
          </p:cNvPr>
          <p:cNvSpPr>
            <a:spLocks noGrp="1"/>
          </p:cNvSpPr>
          <p:nvPr/>
        </p:nvSpPr>
        <p:spPr>
          <a:xfrm>
            <a:off x="1257300" y="1066800"/>
            <a:ext cx="819150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7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Chandra X-ray luminosity and halo-mass scaling relations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3843FE9-1FBA-4538-BEA7-41E9947A6B23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6858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D8D4C8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>
                <a:solidFill>
                  <a:srgbClr val="D8D4C8"/>
                </a:solidFill>
                <a:latin typeface="Avenir Next"/>
                <a:ea typeface="Avenir Next"/>
                <a:cs typeface="Avenir Next"/>
              </a:rPr>
              <a:t>Weak-lensing calibrated CLASH + LoCuSS cluster analysis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D2440D-E3DB-4101-8B20-D6457406E395}"/>
              </a:ext>
            </a:extLst>
          </p:cNvPr>
          <p:cNvSpPr>
            <a:spLocks noGrp="1"/>
          </p:cNvSpPr>
          <p:nvPr/>
        </p:nvSpPr>
        <p:spPr>
          <a:xfrm>
            <a:off x="1257300" y="4629150"/>
            <a:ext cx="2095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CC0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A12DA57-DC12-4D26-AE37-9EBDBB42B1A5}"/>
              </a:ext>
            </a:extLst>
          </p:cNvPr>
          <p:cNvSpPr>
            <a:spLocks noGrp="1"/>
          </p:cNvSpPr>
          <p:nvPr/>
        </p:nvSpPr>
        <p:spPr>
          <a:xfrm>
            <a:off x="1428750" y="4752975"/>
            <a:ext cx="1752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18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A5818A3-36D9-4F0B-A833-6016D77F63BB}"/>
              </a:ext>
            </a:extLst>
          </p:cNvPr>
          <p:cNvSpPr>
            <a:spLocks noGrp="1"/>
          </p:cNvSpPr>
          <p:nvPr/>
        </p:nvSpPr>
        <p:spPr>
          <a:xfrm>
            <a:off x="1428750" y="5095875"/>
            <a:ext cx="17526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main clusters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662679D-4FF3-414A-9935-965291E61198}"/>
              </a:ext>
            </a:extLst>
          </p:cNvPr>
          <p:cNvSpPr>
            <a:spLocks noGrp="1"/>
          </p:cNvSpPr>
          <p:nvPr/>
        </p:nvSpPr>
        <p:spPr>
          <a:xfrm>
            <a:off x="1428750" y="5276850"/>
            <a:ext cx="17526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exclude_bad sample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DB776E9-F886-4031-A55C-36F75ACC2615}"/>
              </a:ext>
            </a:extLst>
          </p:cNvPr>
          <p:cNvSpPr>
            <a:spLocks noGrp="1"/>
          </p:cNvSpPr>
          <p:nvPr/>
        </p:nvSpPr>
        <p:spPr>
          <a:xfrm>
            <a:off x="3638550" y="4629150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CC0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B759FF5-FF3D-4B81-BBAC-75EBB2092E06}"/>
              </a:ext>
            </a:extLst>
          </p:cNvPr>
          <p:cNvSpPr>
            <a:spLocks noGrp="1"/>
          </p:cNvSpPr>
          <p:nvPr/>
        </p:nvSpPr>
        <p:spPr>
          <a:xfrm>
            <a:off x="3810000" y="4752975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1.08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6024979-E35B-4880-BB74-BE3C9F3E6802}"/>
              </a:ext>
            </a:extLst>
          </p:cNvPr>
          <p:cNvSpPr>
            <a:spLocks noGrp="1"/>
          </p:cNvSpPr>
          <p:nvPr/>
        </p:nvSpPr>
        <p:spPr>
          <a:xfrm>
            <a:off x="3810000" y="50958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L_X-M500 slope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14A883-5215-41CD-BC34-93EC53A9BDB6}"/>
              </a:ext>
            </a:extLst>
          </p:cNvPr>
          <p:cNvSpPr>
            <a:spLocks noGrp="1"/>
          </p:cNvSpPr>
          <p:nvPr/>
        </p:nvSpPr>
        <p:spPr>
          <a:xfrm>
            <a:off x="3810000" y="5276850"/>
            <a:ext cx="1847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full-R500 baseline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D27CCEF-09BC-4C88-ACD9-22087BE0A1CF}"/>
              </a:ext>
            </a:extLst>
          </p:cNvPr>
          <p:cNvSpPr>
            <a:spLocks noGrp="1"/>
          </p:cNvSpPr>
          <p:nvPr/>
        </p:nvSpPr>
        <p:spPr>
          <a:xfrm>
            <a:off x="6115050" y="4629150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3CCC0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296E7C-8D52-454D-ABC8-BDC4092DE64F}"/>
              </a:ext>
            </a:extLst>
          </p:cNvPr>
          <p:cNvSpPr>
            <a:spLocks noGrp="1"/>
          </p:cNvSpPr>
          <p:nvPr/>
        </p:nvSpPr>
        <p:spPr>
          <a:xfrm>
            <a:off x="6286500" y="4752975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0.48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0332077-A5D6-4E15-A87E-F4CA5D0CDE9F}"/>
              </a:ext>
            </a:extLst>
          </p:cNvPr>
          <p:cNvSpPr>
            <a:spLocks noGrp="1"/>
          </p:cNvSpPr>
          <p:nvPr/>
        </p:nvSpPr>
        <p:spPr>
          <a:xfrm>
            <a:off x="6286500" y="50958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T_X-M500 slope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C62464A-83B7-4479-8386-80BFCB0522ED}"/>
              </a:ext>
            </a:extLst>
          </p:cNvPr>
          <p:cNvSpPr>
            <a:spLocks noGrp="1"/>
          </p:cNvSpPr>
          <p:nvPr/>
        </p:nvSpPr>
        <p:spPr>
          <a:xfrm>
            <a:off x="6286500" y="5276850"/>
            <a:ext cx="18478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full-R500 baseline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8FE787-2AAC-4266-A99A-0CA5C51DF381}"/>
              </a:ext>
            </a:extLst>
          </p:cNvPr>
          <p:cNvSpPr>
            <a:spLocks noGrp="1"/>
          </p:cNvSpPr>
          <p:nvPr/>
        </p:nvSpPr>
        <p:spPr>
          <a:xfrm>
            <a:off x="1257300" y="5905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Mass-based X-ray scaling relations are stable to core excision within current uncertainties.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071BEB4-0603-4CD0-AA49-8AA943C422D9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1B1D87A-CA8B-4E19-9473-C090649C6641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Advanced Observational Astrophysics final project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75C518A-BA40-445E-A890-3AB027B4C6BD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512529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2A2EF271-9F27-4E9B-8942-F3C818C702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63D9A5C-60FF-4AE2-A2D8-04079084C07A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D036D8-114C-497F-BFE6-30EDABD7AEC9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CONTENTS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9CBBF7A-6D7A-494C-85DB-9DD22845706F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Scientific structure of the project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F9549D-AFA1-41DB-9CA3-18E0F2C04E8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A Chandra measurement chain from cluster physics to weak-lensing calibrated scaling relations.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1D7B508-ED17-4D19-A81D-20FDC6EFBB8F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26F342-DDAD-4091-9F57-6E976AE532EC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48101E6-43EA-4B7C-A1EE-AC79F7962F7A}"/>
              </a:ext>
            </a:extLst>
          </p:cNvPr>
          <p:cNvSpPr>
            <a:spLocks noGrp="1"/>
          </p:cNvSpPr>
          <p:nvPr/>
        </p:nvSpPr>
        <p:spPr>
          <a:xfrm>
            <a:off x="1657350" y="236220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Scientific background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CC5796-8E2C-4649-908E-2513507ABA7F}"/>
              </a:ext>
            </a:extLst>
          </p:cNvPr>
          <p:cNvSpPr>
            <a:spLocks noGrp="1"/>
          </p:cNvSpPr>
          <p:nvPr/>
        </p:nvSpPr>
        <p:spPr>
          <a:xfrm>
            <a:off x="1647825" y="2788037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dirty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why X-ray emission traces halo mass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60B584-4D21-49D1-BC1F-DC0FF12CE535}"/>
              </a:ext>
            </a:extLst>
          </p:cNvPr>
          <p:cNvSpPr>
            <a:spLocks noGrp="1"/>
          </p:cNvSpPr>
          <p:nvPr/>
        </p:nvSpPr>
        <p:spPr>
          <a:xfrm>
            <a:off x="4400550" y="219075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097148A-6741-48EC-9B72-39CDF569CB31}"/>
              </a:ext>
            </a:extLst>
          </p:cNvPr>
          <p:cNvSpPr>
            <a:spLocks noGrp="1"/>
          </p:cNvSpPr>
          <p:nvPr/>
        </p:nvSpPr>
        <p:spPr>
          <a:xfrm>
            <a:off x="4591050" y="240030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869E83-357E-4331-93DE-19319A195905}"/>
              </a:ext>
            </a:extLst>
          </p:cNvPr>
          <p:cNvSpPr>
            <a:spLocks noGrp="1"/>
          </p:cNvSpPr>
          <p:nvPr/>
        </p:nvSpPr>
        <p:spPr>
          <a:xfrm>
            <a:off x="5181600" y="236220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Sample selection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0A15EF9-97C6-41E1-B4E4-3A91C1584194}"/>
              </a:ext>
            </a:extLst>
          </p:cNvPr>
          <p:cNvSpPr>
            <a:spLocks noGrp="1"/>
          </p:cNvSpPr>
          <p:nvPr/>
        </p:nvSpPr>
        <p:spPr>
          <a:xfrm>
            <a:off x="5181600" y="2667000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lensing masses, morphology, and quality cuts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0EF7CE3-C047-47B5-BA57-21C355755C3D}"/>
              </a:ext>
            </a:extLst>
          </p:cNvPr>
          <p:cNvSpPr>
            <a:spLocks noGrp="1"/>
          </p:cNvSpPr>
          <p:nvPr/>
        </p:nvSpPr>
        <p:spPr>
          <a:xfrm>
            <a:off x="7924800" y="219075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7A6E2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34E084-CD6C-41CE-B318-74F019637456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7465778-F1E8-4EF0-9979-A5E3973B5D00}"/>
              </a:ext>
            </a:extLst>
          </p:cNvPr>
          <p:cNvSpPr>
            <a:spLocks noGrp="1"/>
          </p:cNvSpPr>
          <p:nvPr/>
        </p:nvSpPr>
        <p:spPr>
          <a:xfrm>
            <a:off x="8705850" y="236220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Chandra reduction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0DB0E3D-4B5A-4ECB-B1AE-4DF6F3E8C2B7}"/>
              </a:ext>
            </a:extLst>
          </p:cNvPr>
          <p:cNvSpPr>
            <a:spLocks noGrp="1"/>
          </p:cNvSpPr>
          <p:nvPr/>
        </p:nvSpPr>
        <p:spPr>
          <a:xfrm>
            <a:off x="8705850" y="2667000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imaging products, masks, and R500 apertures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5F22E7D-2B0B-481E-83E2-60EDDBD78BA0}"/>
              </a:ext>
            </a:extLst>
          </p:cNvPr>
          <p:cNvSpPr>
            <a:spLocks noGrp="1"/>
          </p:cNvSpPr>
          <p:nvPr/>
        </p:nvSpPr>
        <p:spPr>
          <a:xfrm>
            <a:off x="876300" y="361950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C2DFB30-4FF9-49DD-BFA4-2057B1B4F79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8DE21EC-838F-44C5-90E7-4DCB43931BC1}"/>
              </a:ext>
            </a:extLst>
          </p:cNvPr>
          <p:cNvSpPr>
            <a:spLocks noGrp="1"/>
          </p:cNvSpPr>
          <p:nvPr/>
        </p:nvSpPr>
        <p:spPr>
          <a:xfrm>
            <a:off x="1657350" y="37909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Spectral modeling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A9BA14F-49AA-474C-950D-EC3771781AC4}"/>
              </a:ext>
            </a:extLst>
          </p:cNvPr>
          <p:cNvSpPr>
            <a:spLocks noGrp="1"/>
          </p:cNvSpPr>
          <p:nvPr/>
        </p:nvSpPr>
        <p:spPr>
          <a:xfrm>
            <a:off x="1657350" y="4095750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ICM model, backgrounds, WSTAT, ACCEPT check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654A991-2CC5-4065-B2E3-3B9E3A993536}"/>
              </a:ext>
            </a:extLst>
          </p:cNvPr>
          <p:cNvSpPr>
            <a:spLocks noGrp="1"/>
          </p:cNvSpPr>
          <p:nvPr/>
        </p:nvSpPr>
        <p:spPr>
          <a:xfrm>
            <a:off x="4400550" y="361950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CCAD2EC-FC33-49BD-B87D-69F43B36B773}"/>
              </a:ext>
            </a:extLst>
          </p:cNvPr>
          <p:cNvSpPr>
            <a:spLocks noGrp="1"/>
          </p:cNvSpPr>
          <p:nvPr/>
        </p:nvSpPr>
        <p:spPr>
          <a:xfrm>
            <a:off x="4591050" y="382905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07014E0-8F88-4A2C-A90E-C3D9992C226A}"/>
              </a:ext>
            </a:extLst>
          </p:cNvPr>
          <p:cNvSpPr>
            <a:spLocks noGrp="1"/>
          </p:cNvSpPr>
          <p:nvPr/>
        </p:nvSpPr>
        <p:spPr>
          <a:xfrm>
            <a:off x="5181600" y="37909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Scaling inference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6D26BE-8572-42C2-9BD5-BA5E94634EA1}"/>
              </a:ext>
            </a:extLst>
          </p:cNvPr>
          <p:cNvSpPr>
            <a:spLocks noGrp="1"/>
          </p:cNvSpPr>
          <p:nvPr/>
        </p:nvSpPr>
        <p:spPr>
          <a:xfrm>
            <a:off x="5181600" y="4095750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fixed-evolution linmix fits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7926960-F537-492F-AD3D-73A791D9C99A}"/>
              </a:ext>
            </a:extLst>
          </p:cNvPr>
          <p:cNvSpPr>
            <a:spLocks noGrp="1"/>
          </p:cNvSpPr>
          <p:nvPr/>
        </p:nvSpPr>
        <p:spPr>
          <a:xfrm>
            <a:off x="7924800" y="3619500"/>
            <a:ext cx="2857500" cy="990600"/>
          </a:xfrm>
          <a:prstGeom prst="rect">
            <a:avLst/>
          </a:prstGeom>
          <a:solidFill>
            <a:srgbClr val="FFFFFF"/>
          </a:solidFill>
          <a:ln w="11430">
            <a:solidFill>
              <a:srgbClr val="7A6E2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31A5879-17A5-40BF-8356-3B06B8BEE773}"/>
              </a:ext>
            </a:extLst>
          </p:cNvPr>
          <p:cNvSpPr>
            <a:spLocks noGrp="1"/>
          </p:cNvSpPr>
          <p:nvPr/>
        </p:nvSpPr>
        <p:spPr>
          <a:xfrm>
            <a:off x="8115300" y="3829050"/>
            <a:ext cx="457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1375FFF-B29B-4B37-ACA8-43BA5AD03B5D}"/>
              </a:ext>
            </a:extLst>
          </p:cNvPr>
          <p:cNvSpPr>
            <a:spLocks noGrp="1"/>
          </p:cNvSpPr>
          <p:nvPr/>
        </p:nvSpPr>
        <p:spPr>
          <a:xfrm>
            <a:off x="8705850" y="37909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Results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9516849-E618-4ACF-9442-749D72AB71D0}"/>
              </a:ext>
            </a:extLst>
          </p:cNvPr>
          <p:cNvSpPr>
            <a:spLocks noGrp="1"/>
          </p:cNvSpPr>
          <p:nvPr/>
        </p:nvSpPr>
        <p:spPr>
          <a:xfrm>
            <a:off x="8705850" y="4095750"/>
            <a:ext cx="17907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mass-based relations and scientific conclusion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BF62943-D372-4390-B697-032F54F348C4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5F436CD-96F1-4668-9F5E-4C6517791D68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Contents revised for final academic presentation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BA49D74-5DD2-4743-89B8-B7262667AE8A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68678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4C03224-0D7E-47A9-8A6E-249E6E71CE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01385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D58F735-D039-4E65-9F29-6279F13C88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11411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BFEB66A-D15E-41EC-959A-CEEFDD2BA7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3957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37D57AAF-800A-42AB-B389-6DC57BCBB8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29822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D2B3BAA5-52B7-455C-A387-4D7D2BC5CE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B84F2D-1779-4F96-828C-686314ECE0AB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BF0962-98A0-4DD7-9A50-3EF8D5222CBE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SAMPLE DEFINITION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6FBD1C4-F89D-4C9D-AFA6-DC864585E819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Sample selection combines weak-lensing masses with image-level quality control.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08AD3C5-4A34-490A-AF5C-8B446F9368F1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main analysis uses the 18-cluster exclude_bad sample after morphology and spectral QA cuts.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9AFB50-B3D9-4CA4-8E76-1F1F9B240EDA}"/>
              </a:ext>
            </a:extLst>
          </p:cNvPr>
          <p:cNvSpPr>
            <a:spLocks noGrp="1"/>
          </p:cNvSpPr>
          <p:nvPr/>
        </p:nvSpPr>
        <p:spPr>
          <a:xfrm>
            <a:off x="666750" y="2019300"/>
            <a:ext cx="1571625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5B84E1-3034-45E9-B417-C83075AEA161}"/>
              </a:ext>
            </a:extLst>
          </p:cNvPr>
          <p:cNvSpPr>
            <a:spLocks noGrp="1"/>
          </p:cNvSpPr>
          <p:nvPr/>
        </p:nvSpPr>
        <p:spPr>
          <a:xfrm>
            <a:off x="838200" y="2209800"/>
            <a:ext cx="476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30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E54DF9-1F94-4595-9853-40C88C42E1F0}"/>
              </a:ext>
            </a:extLst>
          </p:cNvPr>
          <p:cNvSpPr>
            <a:spLocks noGrp="1"/>
          </p:cNvSpPr>
          <p:nvPr/>
        </p:nvSpPr>
        <p:spPr>
          <a:xfrm>
            <a:off x="1409700" y="2209800"/>
            <a:ext cx="70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parent sample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6711E9-ED47-4B79-AF4C-8FA812EF8090}"/>
              </a:ext>
            </a:extLst>
          </p:cNvPr>
          <p:cNvSpPr>
            <a:spLocks noGrp="1"/>
          </p:cNvSpPr>
          <p:nvPr/>
        </p:nvSpPr>
        <p:spPr>
          <a:xfrm>
            <a:off x="838200" y="257175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CLASH + LoCuSS with Chandra coverage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B6AAE4-6445-4C2D-A8A5-E20D36DD0D45}"/>
              </a:ext>
            </a:extLst>
          </p:cNvPr>
          <p:cNvSpPr>
            <a:spLocks noGrp="1"/>
          </p:cNvSpPr>
          <p:nvPr/>
        </p:nvSpPr>
        <p:spPr>
          <a:xfrm>
            <a:off x="2343150" y="24003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BEAFFA-53A2-4FF6-8AE9-C87A5300BB17}"/>
              </a:ext>
            </a:extLst>
          </p:cNvPr>
          <p:cNvSpPr>
            <a:spLocks noGrp="1"/>
          </p:cNvSpPr>
          <p:nvPr/>
        </p:nvSpPr>
        <p:spPr>
          <a:xfrm>
            <a:off x="2857500" y="2019300"/>
            <a:ext cx="1571625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7A6E2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376D983-4456-4759-8518-57CBA03848ED}"/>
              </a:ext>
            </a:extLst>
          </p:cNvPr>
          <p:cNvSpPr>
            <a:spLocks noGrp="1"/>
          </p:cNvSpPr>
          <p:nvPr/>
        </p:nvSpPr>
        <p:spPr>
          <a:xfrm>
            <a:off x="3028950" y="2209800"/>
            <a:ext cx="476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-7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92FE66-02BD-407B-825D-336A3E823C0F}"/>
              </a:ext>
            </a:extLst>
          </p:cNvPr>
          <p:cNvSpPr>
            <a:spLocks noGrp="1"/>
          </p:cNvSpPr>
          <p:nvPr/>
        </p:nvSpPr>
        <p:spPr>
          <a:xfrm>
            <a:off x="3600450" y="2209800"/>
            <a:ext cx="70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visual cut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1FCFD6-2EE6-4352-8E35-5D331E9BB3E5}"/>
              </a:ext>
            </a:extLst>
          </p:cNvPr>
          <p:cNvSpPr>
            <a:spLocks noGrp="1"/>
          </p:cNvSpPr>
          <p:nvPr/>
        </p:nvSpPr>
        <p:spPr>
          <a:xfrm>
            <a:off x="3028950" y="257175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aspheric/morphology screen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5EA1491-E22A-425E-BC8F-53F3870090FD}"/>
              </a:ext>
            </a:extLst>
          </p:cNvPr>
          <p:cNvSpPr>
            <a:spLocks noGrp="1"/>
          </p:cNvSpPr>
          <p:nvPr/>
        </p:nvSpPr>
        <p:spPr>
          <a:xfrm>
            <a:off x="4533900" y="24003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34F44CF-50A5-47E1-962E-D1CEA85D38B3}"/>
              </a:ext>
            </a:extLst>
          </p:cNvPr>
          <p:cNvSpPr>
            <a:spLocks noGrp="1"/>
          </p:cNvSpPr>
          <p:nvPr/>
        </p:nvSpPr>
        <p:spPr>
          <a:xfrm>
            <a:off x="5048250" y="2019300"/>
            <a:ext cx="1571625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2B273D3-1394-4B90-9AF2-DF8706684938}"/>
              </a:ext>
            </a:extLst>
          </p:cNvPr>
          <p:cNvSpPr>
            <a:spLocks noGrp="1"/>
          </p:cNvSpPr>
          <p:nvPr/>
        </p:nvSpPr>
        <p:spPr>
          <a:xfrm>
            <a:off x="5219700" y="2209800"/>
            <a:ext cx="476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23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D9D619D-4EA1-4208-92BD-C5DD4B5B8C02}"/>
              </a:ext>
            </a:extLst>
          </p:cNvPr>
          <p:cNvSpPr>
            <a:spLocks noGrp="1"/>
          </p:cNvSpPr>
          <p:nvPr/>
        </p:nvSpPr>
        <p:spPr>
          <a:xfrm>
            <a:off x="5791200" y="2209800"/>
            <a:ext cx="70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processed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9AD1DE4-0D8D-4F31-923B-2304F466C600}"/>
              </a:ext>
            </a:extLst>
          </p:cNvPr>
          <p:cNvSpPr>
            <a:spLocks noGrp="1"/>
          </p:cNvSpPr>
          <p:nvPr/>
        </p:nvSpPr>
        <p:spPr>
          <a:xfrm>
            <a:off x="5219700" y="257175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CIAO imaging and spectral branch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968800C-30BA-4DC4-A075-C916C03F7BB4}"/>
              </a:ext>
            </a:extLst>
          </p:cNvPr>
          <p:cNvSpPr>
            <a:spLocks noGrp="1"/>
          </p:cNvSpPr>
          <p:nvPr/>
        </p:nvSpPr>
        <p:spPr>
          <a:xfrm>
            <a:off x="6724650" y="24003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8A6FF94-7BC3-4229-8B83-CE04C974CE49}"/>
              </a:ext>
            </a:extLst>
          </p:cNvPr>
          <p:cNvSpPr>
            <a:spLocks noGrp="1"/>
          </p:cNvSpPr>
          <p:nvPr/>
        </p:nvSpPr>
        <p:spPr>
          <a:xfrm>
            <a:off x="7239000" y="2019300"/>
            <a:ext cx="1571625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7A6E2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4719ACF-A484-4425-B7D2-247ED92EDC90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476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-5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522B60E-C903-499A-9F42-918C457DBC24}"/>
              </a:ext>
            </a:extLst>
          </p:cNvPr>
          <p:cNvSpPr>
            <a:spLocks noGrp="1"/>
          </p:cNvSpPr>
          <p:nvPr/>
        </p:nvSpPr>
        <p:spPr>
          <a:xfrm>
            <a:off x="7981950" y="2209800"/>
            <a:ext cx="70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spectral QA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F512C80-EDBC-4F34-B13F-5D6C48785925}"/>
              </a:ext>
            </a:extLst>
          </p:cNvPr>
          <p:cNvSpPr>
            <a:spLocks noGrp="1"/>
          </p:cNvSpPr>
          <p:nvPr/>
        </p:nvSpPr>
        <p:spPr>
          <a:xfrm>
            <a:off x="7410450" y="257175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unstable or failed fits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15F0179-9624-406F-987B-0E4E08AFDE8A}"/>
              </a:ext>
            </a:extLst>
          </p:cNvPr>
          <p:cNvSpPr>
            <a:spLocks noGrp="1"/>
          </p:cNvSpPr>
          <p:nvPr/>
        </p:nvSpPr>
        <p:spPr>
          <a:xfrm>
            <a:off x="8915400" y="24003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E4A5AA7-537F-4BC3-BDA6-F104C4A0E5C3}"/>
              </a:ext>
            </a:extLst>
          </p:cNvPr>
          <p:cNvSpPr>
            <a:spLocks noGrp="1"/>
          </p:cNvSpPr>
          <p:nvPr/>
        </p:nvSpPr>
        <p:spPr>
          <a:xfrm>
            <a:off x="9429750" y="2019300"/>
            <a:ext cx="1571625" cy="10668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340F9DA-C11B-4858-AE6F-93FDEF082A5A}"/>
              </a:ext>
            </a:extLst>
          </p:cNvPr>
          <p:cNvSpPr>
            <a:spLocks noGrp="1"/>
          </p:cNvSpPr>
          <p:nvPr/>
        </p:nvSpPr>
        <p:spPr>
          <a:xfrm>
            <a:off x="9601200" y="2209800"/>
            <a:ext cx="476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18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9D8B631-8759-439C-BAAF-A8BF7D084043}"/>
              </a:ext>
            </a:extLst>
          </p:cNvPr>
          <p:cNvSpPr>
            <a:spLocks noGrp="1"/>
          </p:cNvSpPr>
          <p:nvPr/>
        </p:nvSpPr>
        <p:spPr>
          <a:xfrm>
            <a:off x="10172700" y="2209800"/>
            <a:ext cx="70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main sample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8BFF178-2CB7-4509-8168-654BA70E577F}"/>
              </a:ext>
            </a:extLst>
          </p:cNvPr>
          <p:cNvSpPr>
            <a:spLocks noGrp="1"/>
          </p:cNvSpPr>
          <p:nvPr/>
        </p:nvSpPr>
        <p:spPr>
          <a:xfrm>
            <a:off x="9601200" y="2571750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baseline scaling relation fit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3A8029A-7E81-406E-83EE-B52A39CAE91C}"/>
              </a:ext>
            </a:extLst>
          </p:cNvPr>
          <p:cNvSpPr>
            <a:spLocks noGrp="1"/>
          </p:cNvSpPr>
          <p:nvPr/>
        </p:nvSpPr>
        <p:spPr>
          <a:xfrm>
            <a:off x="781050" y="3695700"/>
            <a:ext cx="4810125" cy="20383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775788" y="3771900"/>
            <a:ext cx="2820649" cy="1885950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B8C94649-C661-4B71-92DA-872D321591A0}"/>
              </a:ext>
            </a:extLst>
          </p:cNvPr>
          <p:cNvSpPr>
            <a:spLocks noGrp="1"/>
          </p:cNvSpPr>
          <p:nvPr/>
        </p:nvSpPr>
        <p:spPr>
          <a:xfrm>
            <a:off x="6610350" y="3695700"/>
            <a:ext cx="4810125" cy="20383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625048" y="3771900"/>
            <a:ext cx="2780730" cy="1885950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3C0112C-626F-41C3-ABBC-C92F7465D2EC}"/>
              </a:ext>
            </a:extLst>
          </p:cNvPr>
          <p:cNvSpPr>
            <a:spLocks noGrp="1"/>
          </p:cNvSpPr>
          <p:nvPr/>
        </p:nvSpPr>
        <p:spPr>
          <a:xfrm>
            <a:off x="990600" y="5829300"/>
            <a:ext cx="4381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Retained example: Abell 0209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73F1A9D-5045-4FEF-9070-9B22BB4E0917}"/>
              </a:ext>
            </a:extLst>
          </p:cNvPr>
          <p:cNvSpPr>
            <a:spLocks noGrp="1"/>
          </p:cNvSpPr>
          <p:nvPr/>
        </p:nvSpPr>
        <p:spPr>
          <a:xfrm>
            <a:off x="6705600" y="5829300"/>
            <a:ext cx="4629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Processed but excluded by spectral QA: Abell 0697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892A6A5-8FF5-4E89-9263-B5F1BFEB5EF4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835136D-E63D-46AD-9FF0-C364C5C4A8F3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memory/pipeline_status.csv; output_heatmaps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9954E98-E3C3-4D8B-A51A-EADFFFABF35E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87557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A565D096-D8A8-4381-A7A4-08AB4C1CC5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ADD1E39-FDBF-46FD-BE86-6BB6A583154C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AB1578-FF22-41FA-8AC3-31E831FE0DB7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CHANDRA REDUCTION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03CE78-5FC6-482B-ACA9-AD4D67DCCED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The reduction workflow separates imaging products from per-ObsID spectra.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F4C1740-8522-4334-AC92-4FCDB5556A08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Merged maps support morphology, peak finding, and masks; spectral fitting preserves each observation response.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714CD0-6BF0-42F9-A7F8-A982D4CFC7F3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CD6A4B-A42C-4836-B8B2-B3462A080137}"/>
              </a:ext>
            </a:extLst>
          </p:cNvPr>
          <p:cNvSpPr>
            <a:spLocks noGrp="1"/>
          </p:cNvSpPr>
          <p:nvPr/>
        </p:nvSpPr>
        <p:spPr>
          <a:xfrm>
            <a:off x="1028700" y="245745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2BECB5-A3F4-4151-81C9-0E412F303F60}"/>
              </a:ext>
            </a:extLst>
          </p:cNvPr>
          <p:cNvSpPr>
            <a:spLocks noGrp="1"/>
          </p:cNvSpPr>
          <p:nvPr/>
        </p:nvSpPr>
        <p:spPr>
          <a:xfrm>
            <a:off x="1447800" y="243840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Chandra archive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C805E0-042A-46DA-863B-9C620007A89C}"/>
              </a:ext>
            </a:extLst>
          </p:cNvPr>
          <p:cNvSpPr>
            <a:spLocks noGrp="1"/>
          </p:cNvSpPr>
          <p:nvPr/>
        </p:nvSpPr>
        <p:spPr>
          <a:xfrm>
            <a:off x="1447800" y="274320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secondary 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FD6DED3-8AB5-4E39-B7D0-08C6F8CA95E8}"/>
              </a:ext>
            </a:extLst>
          </p:cNvPr>
          <p:cNvSpPr>
            <a:spLocks noGrp="1"/>
          </p:cNvSpPr>
          <p:nvPr/>
        </p:nvSpPr>
        <p:spPr>
          <a:xfrm>
            <a:off x="3771900" y="25908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BCAA38-A63A-4E0A-8913-030490C5C620}"/>
              </a:ext>
            </a:extLst>
          </p:cNvPr>
          <p:cNvSpPr>
            <a:spLocks noGrp="1"/>
          </p:cNvSpPr>
          <p:nvPr/>
        </p:nvSpPr>
        <p:spPr>
          <a:xfrm>
            <a:off x="4381500" y="226695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320B08-9176-4B86-8050-BC3BE0B57EDE}"/>
              </a:ext>
            </a:extLst>
          </p:cNvPr>
          <p:cNvSpPr>
            <a:spLocks noGrp="1"/>
          </p:cNvSpPr>
          <p:nvPr/>
        </p:nvSpPr>
        <p:spPr>
          <a:xfrm>
            <a:off x="4552950" y="245745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76C724-9260-4F61-8E48-584A48EE5060}"/>
              </a:ext>
            </a:extLst>
          </p:cNvPr>
          <p:cNvSpPr>
            <a:spLocks noGrp="1"/>
          </p:cNvSpPr>
          <p:nvPr/>
        </p:nvSpPr>
        <p:spPr>
          <a:xfrm>
            <a:off x="4972050" y="243840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chandra_repro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94F90E4-6652-4BCA-A890-427CD591D7C2}"/>
              </a:ext>
            </a:extLst>
          </p:cNvPr>
          <p:cNvSpPr>
            <a:spLocks noGrp="1"/>
          </p:cNvSpPr>
          <p:nvPr/>
        </p:nvSpPr>
        <p:spPr>
          <a:xfrm>
            <a:off x="4972050" y="274320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calibrated event files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7D5A3D1-5229-409B-9AEA-46C9FE26C1DE}"/>
              </a:ext>
            </a:extLst>
          </p:cNvPr>
          <p:cNvSpPr>
            <a:spLocks noGrp="1"/>
          </p:cNvSpPr>
          <p:nvPr/>
        </p:nvSpPr>
        <p:spPr>
          <a:xfrm>
            <a:off x="7296150" y="259080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74CED6-B279-4AEE-8DD7-A5FB003A2028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C67E0CA-AA55-4BCD-A021-E707F81001F2}"/>
              </a:ext>
            </a:extLst>
          </p:cNvPr>
          <p:cNvSpPr>
            <a:spLocks noGrp="1"/>
          </p:cNvSpPr>
          <p:nvPr/>
        </p:nvSpPr>
        <p:spPr>
          <a:xfrm>
            <a:off x="8077200" y="245745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A258FAB-D620-42CE-A7E6-698C46EEABCA}"/>
              </a:ext>
            </a:extLst>
          </p:cNvPr>
          <p:cNvSpPr>
            <a:spLocks noGrp="1"/>
          </p:cNvSpPr>
          <p:nvPr/>
        </p:nvSpPr>
        <p:spPr>
          <a:xfrm>
            <a:off x="8496300" y="243840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merge_obs / wavdetect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8E2C0E9-7E4D-4DCF-B843-6075E375D0C2}"/>
              </a:ext>
            </a:extLst>
          </p:cNvPr>
          <p:cNvSpPr>
            <a:spLocks noGrp="1"/>
          </p:cNvSpPr>
          <p:nvPr/>
        </p:nvSpPr>
        <p:spPr>
          <a:xfrm>
            <a:off x="8496300" y="274320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merged maps and point-source masks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0D84D7D-71AA-4218-AB76-3C438B9BD9B6}"/>
              </a:ext>
            </a:extLst>
          </p:cNvPr>
          <p:cNvSpPr>
            <a:spLocks noGrp="1"/>
          </p:cNvSpPr>
          <p:nvPr/>
        </p:nvSpPr>
        <p:spPr>
          <a:xfrm>
            <a:off x="857250" y="388620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6065383-CDB1-4CF7-8889-AB37D6D71BB9}"/>
              </a:ext>
            </a:extLst>
          </p:cNvPr>
          <p:cNvSpPr>
            <a:spLocks noGrp="1"/>
          </p:cNvSpPr>
          <p:nvPr/>
        </p:nvSpPr>
        <p:spPr>
          <a:xfrm>
            <a:off x="1028700" y="407670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33B748A-C158-4CB7-A050-A1AA91A841EB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region construction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6F3DA5F-461F-46FF-AFCB-D04E62174FF3}"/>
              </a:ext>
            </a:extLst>
          </p:cNvPr>
          <p:cNvSpPr>
            <a:spLocks noGrp="1"/>
          </p:cNvSpPr>
          <p:nvPr/>
        </p:nvSpPr>
        <p:spPr>
          <a:xfrm>
            <a:off x="1447800" y="436245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R500 aperture centered on X-ray peak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6586F92-AC96-489D-84EF-57410B44ADBA}"/>
              </a:ext>
            </a:extLst>
          </p:cNvPr>
          <p:cNvSpPr>
            <a:spLocks noGrp="1"/>
          </p:cNvSpPr>
          <p:nvPr/>
        </p:nvSpPr>
        <p:spPr>
          <a:xfrm>
            <a:off x="3771900" y="421005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CF1A497-B7A8-4740-937B-8084E05871C3}"/>
              </a:ext>
            </a:extLst>
          </p:cNvPr>
          <p:cNvSpPr>
            <a:spLocks noGrp="1"/>
          </p:cNvSpPr>
          <p:nvPr/>
        </p:nvSpPr>
        <p:spPr>
          <a:xfrm>
            <a:off x="4381500" y="388620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E74179A-7F07-4D38-8E12-6C76F0920C26}"/>
              </a:ext>
            </a:extLst>
          </p:cNvPr>
          <p:cNvSpPr>
            <a:spLocks noGrp="1"/>
          </p:cNvSpPr>
          <p:nvPr/>
        </p:nvSpPr>
        <p:spPr>
          <a:xfrm>
            <a:off x="4552950" y="407670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BEE025-EE80-4BD5-8654-C1F6608CCA74}"/>
              </a:ext>
            </a:extLst>
          </p:cNvPr>
          <p:cNvSpPr>
            <a:spLocks noGrp="1"/>
          </p:cNvSpPr>
          <p:nvPr/>
        </p:nvSpPr>
        <p:spPr>
          <a:xfrm>
            <a:off x="4972050" y="40576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specextract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077CE1A-8441-42C4-A323-16281DB7F367}"/>
              </a:ext>
            </a:extLst>
          </p:cNvPr>
          <p:cNvSpPr>
            <a:spLocks noGrp="1"/>
          </p:cNvSpPr>
          <p:nvPr/>
        </p:nvSpPr>
        <p:spPr>
          <a:xfrm>
            <a:off x="4972050" y="436245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per-ObsID spectra and ARF/RMF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76F6E5-135C-4122-B6E4-60C43C77FFF9}"/>
              </a:ext>
            </a:extLst>
          </p:cNvPr>
          <p:cNvSpPr>
            <a:spLocks noGrp="1"/>
          </p:cNvSpPr>
          <p:nvPr/>
        </p:nvSpPr>
        <p:spPr>
          <a:xfrm>
            <a:off x="7296150" y="4210050"/>
            <a:ext cx="36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-&gt;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1522D5-ED4E-4B40-8C7C-599C8A13A99A}"/>
              </a:ext>
            </a:extLst>
          </p:cNvPr>
          <p:cNvSpPr>
            <a:spLocks noGrp="1"/>
          </p:cNvSpPr>
          <p:nvPr/>
        </p:nvSpPr>
        <p:spPr>
          <a:xfrm>
            <a:off x="7905750" y="3886200"/>
            <a:ext cx="2762250" cy="8953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B523EE7-8763-4525-A90B-9865BC791ACE}"/>
              </a:ext>
            </a:extLst>
          </p:cNvPr>
          <p:cNvSpPr>
            <a:spLocks noGrp="1"/>
          </p:cNvSpPr>
          <p:nvPr/>
        </p:nvSpPr>
        <p:spPr>
          <a:xfrm>
            <a:off x="8077200" y="4076700"/>
            <a:ext cx="323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9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6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0646E82-2B25-4246-A5D3-9CFCC81FEFE5}"/>
              </a:ext>
            </a:extLst>
          </p:cNvPr>
          <p:cNvSpPr>
            <a:spLocks noGrp="1"/>
          </p:cNvSpPr>
          <p:nvPr/>
        </p:nvSpPr>
        <p:spPr>
          <a:xfrm>
            <a:off x="8496300" y="4057650"/>
            <a:ext cx="2000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Sherpa and linmix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4E626D3-8473-41C7-894E-1657E180DC95}"/>
              </a:ext>
            </a:extLst>
          </p:cNvPr>
          <p:cNvSpPr>
            <a:spLocks noGrp="1"/>
          </p:cNvSpPr>
          <p:nvPr/>
        </p:nvSpPr>
        <p:spPr>
          <a:xfrm>
            <a:off x="8496300" y="4362450"/>
            <a:ext cx="2000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T_X, L_X, slopes, and scatter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A51C-9314-42E6-9EE7-B270156581CF}"/>
              </a:ext>
            </a:extLst>
          </p:cNvPr>
          <p:cNvSpPr>
            <a:spLocks noGrp="1"/>
          </p:cNvSpPr>
          <p:nvPr/>
        </p:nvSpPr>
        <p:spPr>
          <a:xfrm>
            <a:off x="1905000" y="5410200"/>
            <a:ext cx="8382000" cy="6858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FC0A8C4-9AEF-4055-A3AA-6C1CE918F007}"/>
              </a:ext>
            </a:extLst>
          </p:cNvPr>
          <p:cNvSpPr>
            <a:spLocks noGrp="1"/>
          </p:cNvSpPr>
          <p:nvPr/>
        </p:nvSpPr>
        <p:spPr>
          <a:xfrm>
            <a:off x="1905000" y="5410200"/>
            <a:ext cx="57150" cy="6858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676AE75-A1A1-4BD4-85B9-1229CF5257F7}"/>
              </a:ext>
            </a:extLst>
          </p:cNvPr>
          <p:cNvSpPr>
            <a:spLocks noGrp="1"/>
          </p:cNvSpPr>
          <p:nvPr/>
        </p:nvSpPr>
        <p:spPr>
          <a:xfrm>
            <a:off x="2095500" y="5543550"/>
            <a:ext cx="8058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Spectral-response requirement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5BEBED4-C235-47E3-A4A4-2D961F7FA08C}"/>
              </a:ext>
            </a:extLst>
          </p:cNvPr>
          <p:cNvSpPr>
            <a:spLocks noGrp="1"/>
          </p:cNvSpPr>
          <p:nvPr/>
        </p:nvSpPr>
        <p:spPr>
          <a:xfrm>
            <a:off x="2095500" y="5810250"/>
            <a:ext cx="8058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Final spectra are not fitted from merged event files. Each ObsID keeps its own ARF/RMF response and contributes to the joint Sherpa fit.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5BB442B-BA80-4E16-B6A9-1360F023E34A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F3389EA-0BFD-4ABE-B672-16D1A059A552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final report; Xray_Luminosity_Halo_Scaling_Relations_Final_Presentation.pptx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8F3774C-1647-484F-AED2-89462270B8D9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75415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FA4694BF-3E8D-40D7-B5CF-E77570278E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716C288-55C3-4670-9D24-688A9E43AB06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527C296-2E96-408A-B6DF-08A47D7A2F25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APERTURE CONSTRUCTION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DC0AFF5-220E-43CE-8B58-86A1E581A90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R500 coverage defines the X-ray extraction region and quality-control geometry.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B12969-8B4A-45F9-8FE1-5133B1B55AE2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aperture is centered on the X-ray peak and combined with point-source masking before spectral extraction.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22AF7E6-BDEE-48A2-A8EF-C8BA696536A4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6191250" cy="37909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94887" y="2171700"/>
            <a:ext cx="4373075" cy="363855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1E2427B-5227-4352-A739-EB94EB6D99D1}"/>
              </a:ext>
            </a:extLst>
          </p:cNvPr>
          <p:cNvSpPr>
            <a:spLocks noGrp="1"/>
          </p:cNvSpPr>
          <p:nvPr/>
        </p:nvSpPr>
        <p:spPr>
          <a:xfrm>
            <a:off x="7524750" y="2266950"/>
            <a:ext cx="3429000" cy="13716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5C04BF-680C-4B6D-BD90-4799EDA7DB25}"/>
              </a:ext>
            </a:extLst>
          </p:cNvPr>
          <p:cNvSpPr>
            <a:spLocks noGrp="1"/>
          </p:cNvSpPr>
          <p:nvPr/>
        </p:nvSpPr>
        <p:spPr>
          <a:xfrm>
            <a:off x="7524750" y="2266950"/>
            <a:ext cx="57150" cy="13716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623EFAC-6B97-4886-A0B0-D00DA59F10B0}"/>
              </a:ext>
            </a:extLst>
          </p:cNvPr>
          <p:cNvSpPr>
            <a:spLocks noGrp="1"/>
          </p:cNvSpPr>
          <p:nvPr/>
        </p:nvSpPr>
        <p:spPr>
          <a:xfrm>
            <a:off x="7715250" y="2400300"/>
            <a:ext cx="3105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Displayed quantities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6CD738C-D696-46EA-9C2E-148D771F560E}"/>
              </a:ext>
            </a:extLst>
          </p:cNvPr>
          <p:cNvSpPr>
            <a:spLocks noGrp="1"/>
          </p:cNvSpPr>
          <p:nvPr/>
        </p:nvSpPr>
        <p:spPr>
          <a:xfrm>
            <a:off x="7715250" y="2667000"/>
            <a:ext cx="310515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The overlay shows the smoothed X-ray image, X-ray peak, point-source masks, and R500-scale source/background aperture geometry used for spectral products.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6191DDD-4144-48A8-9190-0A513455B42F}"/>
              </a:ext>
            </a:extLst>
          </p:cNvPr>
          <p:cNvSpPr>
            <a:spLocks noGrp="1"/>
          </p:cNvSpPr>
          <p:nvPr/>
        </p:nvSpPr>
        <p:spPr>
          <a:xfrm>
            <a:off x="7524750" y="4000500"/>
            <a:ext cx="3429000" cy="12001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F031F43-4D31-4682-A00C-B9DA1BFB7C9E}"/>
              </a:ext>
            </a:extLst>
          </p:cNvPr>
          <p:cNvSpPr>
            <a:spLocks noGrp="1"/>
          </p:cNvSpPr>
          <p:nvPr/>
        </p:nvSpPr>
        <p:spPr>
          <a:xfrm>
            <a:off x="7524750" y="4000500"/>
            <a:ext cx="57150" cy="1200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69DDF6A-E2B4-4353-9B47-D885BC8A389B}"/>
              </a:ext>
            </a:extLst>
          </p:cNvPr>
          <p:cNvSpPr>
            <a:spLocks noGrp="1"/>
          </p:cNvSpPr>
          <p:nvPr/>
        </p:nvSpPr>
        <p:spPr>
          <a:xfrm>
            <a:off x="7715250" y="4133850"/>
            <a:ext cx="3105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Role in the analysis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8F038E-AE31-456F-B750-2B92D9B5206D}"/>
              </a:ext>
            </a:extLst>
          </p:cNvPr>
          <p:cNvSpPr>
            <a:spLocks noGrp="1"/>
          </p:cNvSpPr>
          <p:nvPr/>
        </p:nvSpPr>
        <p:spPr>
          <a:xfrm>
            <a:off x="7715250" y="4400550"/>
            <a:ext cx="31051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This step connects the image-level morphology screen to the spectral measurement: aperture choices determine which ICM photons enter L_X and T_X.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FFB354-BA4D-4BBF-9198-C51C21D0CE50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B6C63D-5C34-4DAD-A707-5F041B9BF8FA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Figure: output/figures/spectral/Abell_0068_r500_xray_peak_psmask_aperture_overlay.png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26D61C4-EEEB-43B6-88C3-273561B4BBDD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25550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4D67AF7E-2C6F-4489-B2EE-2C2B55D021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035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BD9C47A6-A699-437A-B290-F3EBDE7942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A7A724-CCEF-4238-8970-AE378997BE95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1B9FA4-E185-48F1-9B1F-FF116EF57646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SPECTRAL QA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32EC0E8-724C-48C1-8ADE-3AA9EE6856D1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Spectral QA separates raw background behavior from the net source model.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342689A-8573-4C83-BC40-E04ECF45D624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adopted WSTAT diagnostic compares source-region model components after background treatment.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E7C372-52C0-4774-B769-0CA06F874E1F}"/>
              </a:ext>
            </a:extLst>
          </p:cNvPr>
          <p:cNvSpPr>
            <a:spLocks noGrp="1"/>
          </p:cNvSpPr>
          <p:nvPr/>
        </p:nvSpPr>
        <p:spPr>
          <a:xfrm>
            <a:off x="552450" y="1981200"/>
            <a:ext cx="6762750" cy="400050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35394" y="2057400"/>
            <a:ext cx="4196862" cy="38481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A63D2D5-E0D2-4EC6-8BDF-340AB5260F2E}"/>
              </a:ext>
            </a:extLst>
          </p:cNvPr>
          <p:cNvSpPr>
            <a:spLocks noGrp="1"/>
          </p:cNvSpPr>
          <p:nvPr/>
        </p:nvSpPr>
        <p:spPr>
          <a:xfrm>
            <a:off x="7734300" y="2171700"/>
            <a:ext cx="3429000" cy="12573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07E694-7460-4354-9951-269C633E21CF}"/>
              </a:ext>
            </a:extLst>
          </p:cNvPr>
          <p:cNvSpPr>
            <a:spLocks noGrp="1"/>
          </p:cNvSpPr>
          <p:nvPr/>
        </p:nvSpPr>
        <p:spPr>
          <a:xfrm>
            <a:off x="7734300" y="2171700"/>
            <a:ext cx="57150" cy="12573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F638136-9309-4CFB-88AD-371C4044A75F}"/>
              </a:ext>
            </a:extLst>
          </p:cNvPr>
          <p:cNvSpPr>
            <a:spLocks noGrp="1"/>
          </p:cNvSpPr>
          <p:nvPr/>
        </p:nvSpPr>
        <p:spPr>
          <a:xfrm>
            <a:off x="7924800" y="2305050"/>
            <a:ext cx="3105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Model components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AE693E-4AAC-492D-BC2D-A70B2C75FE9B}"/>
              </a:ext>
            </a:extLst>
          </p:cNvPr>
          <p:cNvSpPr>
            <a:spLocks noGrp="1"/>
          </p:cNvSpPr>
          <p:nvPr/>
        </p:nvSpPr>
        <p:spPr>
          <a:xfrm>
            <a:off x="7924800" y="2571750"/>
            <a:ext cx="31051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Absorbed APEC ICM plus source-region sky components: local hot bubble, Galactic halo, and cosmic X-ray background.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A850B0-BAF9-45A7-96D2-EDAF485071EF}"/>
              </a:ext>
            </a:extLst>
          </p:cNvPr>
          <p:cNvSpPr>
            <a:spLocks noGrp="1"/>
          </p:cNvSpPr>
          <p:nvPr/>
        </p:nvSpPr>
        <p:spPr>
          <a:xfrm>
            <a:off x="7734300" y="3752850"/>
            <a:ext cx="3429000" cy="139065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D2B1F19-4C6D-4CE4-9607-E2F6C652D26A}"/>
              </a:ext>
            </a:extLst>
          </p:cNvPr>
          <p:cNvSpPr>
            <a:spLocks noGrp="1"/>
          </p:cNvSpPr>
          <p:nvPr/>
        </p:nvSpPr>
        <p:spPr>
          <a:xfrm>
            <a:off x="7734300" y="3752850"/>
            <a:ext cx="57150" cy="13906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9E557D2-F2B7-42E9-8296-F4A895FCF8DE}"/>
              </a:ext>
            </a:extLst>
          </p:cNvPr>
          <p:cNvSpPr>
            <a:spLocks noGrp="1"/>
          </p:cNvSpPr>
          <p:nvPr/>
        </p:nvSpPr>
        <p:spPr>
          <a:xfrm>
            <a:off x="7924800" y="3886200"/>
            <a:ext cx="31051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Background handling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4E1B05-5F17-47E8-A484-287D038A9A15}"/>
              </a:ext>
            </a:extLst>
          </p:cNvPr>
          <p:cNvSpPr>
            <a:spLocks noGrp="1"/>
          </p:cNvSpPr>
          <p:nvPr/>
        </p:nvSpPr>
        <p:spPr>
          <a:xfrm>
            <a:off x="7924800" y="4152900"/>
            <a:ext cx="310515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Blank-sky particle background is renormalized in 9.5-12 keV, where cluster thermal emission is weak and the particle background dominates.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C93C374-DA67-4834-BD8B-5309ADF22B8D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95161B-7916-4941-8600-991D3FDA942B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Figure: output/figures/spectral/Abell_0209_fit.png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F7700D5-5E54-4FE7-8177-0D03B2E3E504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5646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EE13A37-6E7A-4335-BB29-B780465777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C56C7-493A-4980-8692-7C28598C393F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5C2E5F8-A819-40E9-B726-BDD66DAEFFEC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EXTERNAL SANITY CHECK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9109DA5-6D54-4D05-B9CC-0A94450D7AF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ACCEPT temperatures provide an external diagnostic for spectral-fit plausibility.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EBC206-4E52-4C24-B7B4-A6408721BB32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reference values are used for QA interpretation, not as calibration priors in the scaling fit.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CE2949-293E-4ED6-9FCD-0E3C7930E22F}"/>
              </a:ext>
            </a:extLst>
          </p:cNvPr>
          <p:cNvSpPr>
            <a:spLocks noGrp="1"/>
          </p:cNvSpPr>
          <p:nvPr/>
        </p:nvSpPr>
        <p:spPr>
          <a:xfrm>
            <a:off x="895350" y="2266950"/>
            <a:ext cx="6096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C8BA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D37C48-E291-4EB5-AB58-07CBE4B5B8E9}"/>
              </a:ext>
            </a:extLst>
          </p:cNvPr>
          <p:cNvSpPr>
            <a:spLocks noGrp="1"/>
          </p:cNvSpPr>
          <p:nvPr/>
        </p:nvSpPr>
        <p:spPr>
          <a:xfrm>
            <a:off x="1047750" y="2381250"/>
            <a:ext cx="2190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Cluster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C6BA80-5459-4529-AE0C-DD8AF119AB07}"/>
              </a:ext>
            </a:extLst>
          </p:cNvPr>
          <p:cNvSpPr>
            <a:spLocks noGrp="1"/>
          </p:cNvSpPr>
          <p:nvPr/>
        </p:nvSpPr>
        <p:spPr>
          <a:xfrm>
            <a:off x="3238500" y="23812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Project T_X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2BF62B-C88A-467C-98DB-D08F8507057C}"/>
              </a:ext>
            </a:extLst>
          </p:cNvPr>
          <p:cNvSpPr>
            <a:spLocks noGrp="1"/>
          </p:cNvSpPr>
          <p:nvPr/>
        </p:nvSpPr>
        <p:spPr>
          <a:xfrm>
            <a:off x="4381500" y="2381250"/>
            <a:ext cx="1238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ACCEPT T_X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2D5D0E-E959-4499-82FD-650BDCBB5E9E}"/>
              </a:ext>
            </a:extLst>
          </p:cNvPr>
          <p:cNvSpPr>
            <a:spLocks noGrp="1"/>
          </p:cNvSpPr>
          <p:nvPr/>
        </p:nvSpPr>
        <p:spPr>
          <a:xfrm>
            <a:off x="5619750" y="23812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ratio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62639E-A855-4126-82D1-BC05EAB25E9B}"/>
              </a:ext>
            </a:extLst>
          </p:cNvPr>
          <p:cNvSpPr>
            <a:spLocks noGrp="1"/>
          </p:cNvSpPr>
          <p:nvPr/>
        </p:nvSpPr>
        <p:spPr>
          <a:xfrm>
            <a:off x="1028700" y="2619375"/>
            <a:ext cx="5829300" cy="9525"/>
          </a:xfrm>
          <a:prstGeom prst="rect">
            <a:avLst/>
          </a:prstGeom>
          <a:solidFill>
            <a:srgbClr val="D8D4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34A80F-660F-40DA-BF96-5451F96A70B6}"/>
              </a:ext>
            </a:extLst>
          </p:cNvPr>
          <p:cNvSpPr>
            <a:spLocks noGrp="1"/>
          </p:cNvSpPr>
          <p:nvPr/>
        </p:nvSpPr>
        <p:spPr>
          <a:xfrm>
            <a:off x="1047750" y="2686050"/>
            <a:ext cx="21145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Abell 0209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629B86-F224-4A03-BDEA-9F8FC59DAC1D}"/>
              </a:ext>
            </a:extLst>
          </p:cNvPr>
          <p:cNvSpPr>
            <a:spLocks noGrp="1"/>
          </p:cNvSpPr>
          <p:nvPr/>
        </p:nvSpPr>
        <p:spPr>
          <a:xfrm>
            <a:off x="3238500" y="268605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8.05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79C0D9-9940-43B5-9CDB-0A47F533CCEF}"/>
              </a:ext>
            </a:extLst>
          </p:cNvPr>
          <p:cNvSpPr>
            <a:spLocks noGrp="1"/>
          </p:cNvSpPr>
          <p:nvPr/>
        </p:nvSpPr>
        <p:spPr>
          <a:xfrm>
            <a:off x="4381500" y="2686050"/>
            <a:ext cx="11620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8.28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43F226-A5FA-4AFA-8449-A53329319C85}"/>
              </a:ext>
            </a:extLst>
          </p:cNvPr>
          <p:cNvSpPr>
            <a:spLocks noGrp="1"/>
          </p:cNvSpPr>
          <p:nvPr/>
        </p:nvSpPr>
        <p:spPr>
          <a:xfrm>
            <a:off x="5619750" y="268605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0.97x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70CE51-0B77-4477-A1D1-47B6013EEEAA}"/>
              </a:ext>
            </a:extLst>
          </p:cNvPr>
          <p:cNvSpPr>
            <a:spLocks noGrp="1"/>
          </p:cNvSpPr>
          <p:nvPr/>
        </p:nvSpPr>
        <p:spPr>
          <a:xfrm>
            <a:off x="1028700" y="3181350"/>
            <a:ext cx="5829300" cy="9525"/>
          </a:xfrm>
          <a:prstGeom prst="rect">
            <a:avLst/>
          </a:prstGeom>
          <a:solidFill>
            <a:srgbClr val="EEE8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656813-4909-4288-8EC1-766B6CDC3D7D}"/>
              </a:ext>
            </a:extLst>
          </p:cNvPr>
          <p:cNvSpPr>
            <a:spLocks noGrp="1"/>
          </p:cNvSpPr>
          <p:nvPr/>
        </p:nvSpPr>
        <p:spPr>
          <a:xfrm>
            <a:off x="1047750" y="3200400"/>
            <a:ext cx="21145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Abell 0611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7CAAD1-5D1A-4736-A126-FA9DE20EA5A9}"/>
              </a:ext>
            </a:extLst>
          </p:cNvPr>
          <p:cNvSpPr>
            <a:spLocks noGrp="1"/>
          </p:cNvSpPr>
          <p:nvPr/>
        </p:nvSpPr>
        <p:spPr>
          <a:xfrm>
            <a:off x="3238500" y="320040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12.87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D1B1AFA-7A50-4ACD-957A-B0395686C0ED}"/>
              </a:ext>
            </a:extLst>
          </p:cNvPr>
          <p:cNvSpPr>
            <a:spLocks noGrp="1"/>
          </p:cNvSpPr>
          <p:nvPr/>
        </p:nvSpPr>
        <p:spPr>
          <a:xfrm>
            <a:off x="4381500" y="3200400"/>
            <a:ext cx="11620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6.69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B2E22FF-F999-4A9B-A978-C79E7934EA66}"/>
              </a:ext>
            </a:extLst>
          </p:cNvPr>
          <p:cNvSpPr>
            <a:spLocks noGrp="1"/>
          </p:cNvSpPr>
          <p:nvPr/>
        </p:nvSpPr>
        <p:spPr>
          <a:xfrm>
            <a:off x="5619750" y="320040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1.92x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4EAF618-4393-4934-8A03-364FDA3832F7}"/>
              </a:ext>
            </a:extLst>
          </p:cNvPr>
          <p:cNvSpPr>
            <a:spLocks noGrp="1"/>
          </p:cNvSpPr>
          <p:nvPr/>
        </p:nvSpPr>
        <p:spPr>
          <a:xfrm>
            <a:off x="1028700" y="3695700"/>
            <a:ext cx="5829300" cy="9525"/>
          </a:xfrm>
          <a:prstGeom prst="rect">
            <a:avLst/>
          </a:prstGeom>
          <a:solidFill>
            <a:srgbClr val="EEE8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AB7862A-1269-4E2F-8665-7F590C55C1B5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21145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MACSJ0647.7+7015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BC879B-1090-45ED-BD0C-2380FDA90ABD}"/>
              </a:ext>
            </a:extLst>
          </p:cNvPr>
          <p:cNvSpPr>
            <a:spLocks noGrp="1"/>
          </p:cNvSpPr>
          <p:nvPr/>
        </p:nvSpPr>
        <p:spPr>
          <a:xfrm>
            <a:off x="3238500" y="371475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16.74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99E0D11-9389-4CE7-92B4-34CA7076AE5C}"/>
              </a:ext>
            </a:extLst>
          </p:cNvPr>
          <p:cNvSpPr>
            <a:spLocks noGrp="1"/>
          </p:cNvSpPr>
          <p:nvPr/>
        </p:nvSpPr>
        <p:spPr>
          <a:xfrm>
            <a:off x="4381500" y="3714750"/>
            <a:ext cx="11620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9.07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603B513-B0AB-4F90-A8B1-A7FF9B50551E}"/>
              </a:ext>
            </a:extLst>
          </p:cNvPr>
          <p:cNvSpPr>
            <a:spLocks noGrp="1"/>
          </p:cNvSpPr>
          <p:nvPr/>
        </p:nvSpPr>
        <p:spPr>
          <a:xfrm>
            <a:off x="5619750" y="371475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1.85x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E96E04B-4371-4140-98CB-77ECFDD3F36D}"/>
              </a:ext>
            </a:extLst>
          </p:cNvPr>
          <p:cNvSpPr>
            <a:spLocks noGrp="1"/>
          </p:cNvSpPr>
          <p:nvPr/>
        </p:nvSpPr>
        <p:spPr>
          <a:xfrm>
            <a:off x="1028700" y="4210050"/>
            <a:ext cx="5829300" cy="9525"/>
          </a:xfrm>
          <a:prstGeom prst="rect">
            <a:avLst/>
          </a:prstGeom>
          <a:solidFill>
            <a:srgbClr val="EEE8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D858F10-5A1A-49DC-AC48-8B2CB3A569BE}"/>
              </a:ext>
            </a:extLst>
          </p:cNvPr>
          <p:cNvSpPr>
            <a:spLocks noGrp="1"/>
          </p:cNvSpPr>
          <p:nvPr/>
        </p:nvSpPr>
        <p:spPr>
          <a:xfrm>
            <a:off x="1047750" y="4229100"/>
            <a:ext cx="21145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ZwCl 0857.9+2107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0C7F151-8B62-43F5-9ECF-A9B31DB3A4D8}"/>
              </a:ext>
            </a:extLst>
          </p:cNvPr>
          <p:cNvSpPr>
            <a:spLocks noGrp="1"/>
          </p:cNvSpPr>
          <p:nvPr/>
        </p:nvSpPr>
        <p:spPr>
          <a:xfrm>
            <a:off x="3238500" y="422910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4.68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262BE76-7A6E-4C4A-A3B2-F91BC26F99CE}"/>
              </a:ext>
            </a:extLst>
          </p:cNvPr>
          <p:cNvSpPr>
            <a:spLocks noGrp="1"/>
          </p:cNvSpPr>
          <p:nvPr/>
        </p:nvSpPr>
        <p:spPr>
          <a:xfrm>
            <a:off x="4381500" y="4229100"/>
            <a:ext cx="116205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12.10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88C0699-B5F9-45B1-A64C-FCDC27701271}"/>
              </a:ext>
            </a:extLst>
          </p:cNvPr>
          <p:cNvSpPr>
            <a:spLocks noGrp="1"/>
          </p:cNvSpPr>
          <p:nvPr/>
        </p:nvSpPr>
        <p:spPr>
          <a:xfrm>
            <a:off x="5619750" y="4229100"/>
            <a:ext cx="10668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0.39x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3C34DE8-7F21-47AF-A812-49CB5959AAFC}"/>
              </a:ext>
            </a:extLst>
          </p:cNvPr>
          <p:cNvSpPr>
            <a:spLocks noGrp="1"/>
          </p:cNvSpPr>
          <p:nvPr/>
        </p:nvSpPr>
        <p:spPr>
          <a:xfrm>
            <a:off x="7658100" y="2381250"/>
            <a:ext cx="3238500" cy="14859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B80BEF5-8837-4B43-8D5A-B8776CCCDC5C}"/>
              </a:ext>
            </a:extLst>
          </p:cNvPr>
          <p:cNvSpPr>
            <a:spLocks noGrp="1"/>
          </p:cNvSpPr>
          <p:nvPr/>
        </p:nvSpPr>
        <p:spPr>
          <a:xfrm>
            <a:off x="7658100" y="2381250"/>
            <a:ext cx="57150" cy="14859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1D2F6B7-0A54-48E3-8048-E5A755A7511C}"/>
              </a:ext>
            </a:extLst>
          </p:cNvPr>
          <p:cNvSpPr>
            <a:spLocks noGrp="1"/>
          </p:cNvSpPr>
          <p:nvPr/>
        </p:nvSpPr>
        <p:spPr>
          <a:xfrm>
            <a:off x="7848600" y="2514600"/>
            <a:ext cx="291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Interpretation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B6CC325-2034-469E-9DCE-42A4BC8ED2FA}"/>
              </a:ext>
            </a:extLst>
          </p:cNvPr>
          <p:cNvSpPr>
            <a:spLocks noGrp="1"/>
          </p:cNvSpPr>
          <p:nvPr/>
        </p:nvSpPr>
        <p:spPr>
          <a:xfrm>
            <a:off x="7848600" y="2781300"/>
            <a:ext cx="291465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Near-unity ratios support the spectral solution. Large deviations trigger inspection of fit statistics, ObsID coverage, backgrounds, and aperture/reference mismatches.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DA0360-7D49-445D-B97C-5070C34918FD}"/>
              </a:ext>
            </a:extLst>
          </p:cNvPr>
          <p:cNvSpPr>
            <a:spLocks noGrp="1"/>
          </p:cNvSpPr>
          <p:nvPr/>
        </p:nvSpPr>
        <p:spPr>
          <a:xfrm>
            <a:off x="7658100" y="4210050"/>
            <a:ext cx="3238500" cy="1143000"/>
          </a:xfrm>
          <a:prstGeom prst="rect">
            <a:avLst/>
          </a:prstGeom>
          <a:solidFill>
            <a:srgbClr val="FFFFFF"/>
          </a:solidFill>
          <a:ln w="11430">
            <a:solidFill>
              <a:srgbClr val="B8553B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67CE01C6-9BAB-40B5-866B-1A49069C1ACC}"/>
              </a:ext>
            </a:extLst>
          </p:cNvPr>
          <p:cNvSpPr>
            <a:spLocks noGrp="1"/>
          </p:cNvSpPr>
          <p:nvPr/>
        </p:nvSpPr>
        <p:spPr>
          <a:xfrm>
            <a:off x="7658100" y="4210050"/>
            <a:ext cx="57150" cy="114300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89C5744-01A0-47A8-B5EE-73D2571CD371}"/>
              </a:ext>
            </a:extLst>
          </p:cNvPr>
          <p:cNvSpPr>
            <a:spLocks noGrp="1"/>
          </p:cNvSpPr>
          <p:nvPr/>
        </p:nvSpPr>
        <p:spPr>
          <a:xfrm>
            <a:off x="7848600" y="4343400"/>
            <a:ext cx="29146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Example outcome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BF31C67-38FB-4D04-BB9A-DE59443E8DC3}"/>
              </a:ext>
            </a:extLst>
          </p:cNvPr>
          <p:cNvSpPr>
            <a:spLocks noGrp="1"/>
          </p:cNvSpPr>
          <p:nvPr/>
        </p:nvSpPr>
        <p:spPr>
          <a:xfrm>
            <a:off x="7848600" y="4610100"/>
            <a:ext cx="2914650" cy="628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ZwCl 0857.9+2107 is excluded from the main relation because the ACCEPT comparison appears affected by a reference/aperture mismatch.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6ABA11-3AB0-458B-9407-7FAA120731E3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71F8938-3D35-4E1F-941C-73FED9CA7348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memory/pipeline_status.csv; ACCEPT used as QA reference only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2B5DE57-9389-4322-908D-31FABE1DE656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3456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217474E7-5AD0-4D6C-9429-4AD364A1B3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44F990F-00D0-487C-B2AA-7B37BD68C930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7A0142-6DFC-4C70-9781-FFE059EB7D07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SCALING INFERENCE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CCC136-041A-4482-A194-B63226E1010A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Scaling relations are fitted with fixed evolution and intrinsic scatter.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DDE09C-A39B-44EA-A021-613FED2F5ED5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main-flow analysis focuses on the two mass-based observables.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5407CE6-E952-42FB-9897-9459523F7EE3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5810250" cy="2038350"/>
          </a:xfrm>
          <a:prstGeom prst="rect">
            <a:avLst/>
          </a:prstGeom>
          <a:solidFill>
            <a:srgbClr val="FFFFFF"/>
          </a:solidFill>
          <a:ln w="13335">
            <a:solidFill>
              <a:srgbClr val="1F7A8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C60662-61FB-4CA7-92F2-AF40280A219C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5191125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21A22"/>
                </a:solidFill>
                <a:latin typeface="Menlo"/>
                <a:ea typeface="Menlo"/>
                <a:cs typeface="Menlo"/>
              </a:defRPr>
            </a:pPr>
            <a:r>
              <a:rPr sz="1875" b="1">
                <a:solidFill>
                  <a:srgbClr val="121A22"/>
                </a:solidFill>
                <a:latin typeface="Menlo"/>
                <a:ea typeface="Menlo"/>
                <a:cs typeface="Menlo"/>
              </a:rPr>
              <a:t>log10[Y / E(z)^gamma] = alpha + beta log10[X / X_piv]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F4FBA4-0812-4E9C-B45B-0279140905FD}"/>
              </a:ext>
            </a:extLst>
          </p:cNvPr>
          <p:cNvSpPr>
            <a:spLocks noGrp="1"/>
          </p:cNvSpPr>
          <p:nvPr/>
        </p:nvSpPr>
        <p:spPr>
          <a:xfrm>
            <a:off x="1104900" y="3352800"/>
            <a:ext cx="476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linmix handles measurement errors in both axes and reports intrinsic scatter in dex.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584454-874E-47B8-92F5-D5E76EAC19F2}"/>
              </a:ext>
            </a:extLst>
          </p:cNvPr>
          <p:cNvSpPr>
            <a:spLocks noGrp="1"/>
          </p:cNvSpPr>
          <p:nvPr/>
        </p:nvSpPr>
        <p:spPr>
          <a:xfrm>
            <a:off x="7200900" y="2133600"/>
            <a:ext cx="3429000" cy="2038350"/>
          </a:xfrm>
          <a:prstGeom prst="rect">
            <a:avLst/>
          </a:prstGeom>
          <a:solidFill>
            <a:srgbClr val="FFFFFF"/>
          </a:solidFill>
          <a:ln w="13335">
            <a:solidFill>
              <a:srgbClr val="B8553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C35E43-53A3-4C8E-B71E-00D1E299AC5B}"/>
              </a:ext>
            </a:extLst>
          </p:cNvPr>
          <p:cNvSpPr>
            <a:spLocks noGrp="1"/>
          </p:cNvSpPr>
          <p:nvPr/>
        </p:nvSpPr>
        <p:spPr>
          <a:xfrm>
            <a:off x="7524750" y="2457450"/>
            <a:ext cx="2571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Headline relations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B047D4-0BF8-4B2D-9FA9-E78D9FE94F72}"/>
              </a:ext>
            </a:extLst>
          </p:cNvPr>
          <p:cNvSpPr>
            <a:spLocks noGrp="1"/>
          </p:cNvSpPr>
          <p:nvPr/>
        </p:nvSpPr>
        <p:spPr>
          <a:xfrm>
            <a:off x="7543800" y="2971800"/>
            <a:ext cx="23812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21A2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21A22"/>
                </a:solidFill>
                <a:latin typeface="Menlo"/>
                <a:ea typeface="Menlo"/>
                <a:cs typeface="Menlo"/>
              </a:rPr>
              <a:t>L_X-M500</a:t>
            </a:r>
          </a:p>
          <a:p>
            <a:pPr algn="l">
              <a:defRPr sz="2100" b="1">
                <a:solidFill>
                  <a:srgbClr val="121A22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121A22"/>
                </a:solidFill>
                <a:latin typeface="Menlo"/>
                <a:ea typeface="Menlo"/>
                <a:cs typeface="Menlo"/>
              </a:rPr>
              <a:t>T_X-M500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1DFD393-6B66-4F8E-A31A-D6142E5C1397}"/>
              </a:ext>
            </a:extLst>
          </p:cNvPr>
          <p:cNvSpPr>
            <a:spLocks noGrp="1"/>
          </p:cNvSpPr>
          <p:nvPr/>
        </p:nvSpPr>
        <p:spPr>
          <a:xfrm>
            <a:off x="2038350" y="4857750"/>
            <a:ext cx="8096250" cy="723900"/>
          </a:xfrm>
          <a:prstGeom prst="rect">
            <a:avLst/>
          </a:prstGeom>
          <a:solidFill>
            <a:srgbClr val="FFFFFF"/>
          </a:solidFill>
          <a:ln w="11430">
            <a:solidFill>
              <a:srgbClr val="7A6E2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3792B3-A6FC-433C-A124-F0AE69622AD7}"/>
              </a:ext>
            </a:extLst>
          </p:cNvPr>
          <p:cNvSpPr>
            <a:spLocks noGrp="1"/>
          </p:cNvSpPr>
          <p:nvPr/>
        </p:nvSpPr>
        <p:spPr>
          <a:xfrm>
            <a:off x="2038350" y="4857750"/>
            <a:ext cx="57150" cy="723900"/>
          </a:xfrm>
          <a:prstGeom prst="rect">
            <a:avLst/>
          </a:prstGeom>
          <a:solidFill>
            <a:srgbClr val="7A6E2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41E0CF7-24B1-42E5-9012-EF112A955EFF}"/>
              </a:ext>
            </a:extLst>
          </p:cNvPr>
          <p:cNvSpPr>
            <a:spLocks noGrp="1"/>
          </p:cNvSpPr>
          <p:nvPr/>
        </p:nvSpPr>
        <p:spPr>
          <a:xfrm>
            <a:off x="2228850" y="4991100"/>
            <a:ext cx="77724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Pivot convention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051A4E7-8C21-430B-8124-EE2839D860EB}"/>
              </a:ext>
            </a:extLst>
          </p:cNvPr>
          <p:cNvSpPr>
            <a:spLocks noGrp="1"/>
          </p:cNvSpPr>
          <p:nvPr/>
        </p:nvSpPr>
        <p:spPr>
          <a:xfrm>
            <a:off x="2228850" y="5257800"/>
            <a:ext cx="77724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M500 pivot = 3e14 Msun and T_X pivot = 5 keV. Slopes are the primary scientific comparison; normalization is pivot-dependent.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6F3C4E3-6E9B-439D-B64B-C3A196AF6F71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7CA2EB4-2682-4AE0-882E-1BAFD9AA4F02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final report; output/products/final_scaling_table.csv; Kelly 2007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22C782B-BD2E-43E2-A74F-2A34929EA7AD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107846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B721697D-5565-4C45-84C2-F99A4E0B54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60D40A-971A-4954-BE28-EE5E941589F3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405645-C76B-4E2A-A3C8-20FFAD2EC97C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MASS-BASED RESULTS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5C8C84-1CDB-4434-9B6B-72E6EDF2F6F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Full-R500 scaling shows stable mass trends in luminosity and temperature.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963633-0757-4C8A-AE68-4CBB9C2BF52C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Baseline sample: 18-cluster exclude_bad; fixed self-similar redshift evolution.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1C2A485-6AA6-4FB7-B596-CD6A15EC0B58}"/>
              </a:ext>
            </a:extLst>
          </p:cNvPr>
          <p:cNvSpPr>
            <a:spLocks noGrp="1"/>
          </p:cNvSpPr>
          <p:nvPr/>
        </p:nvSpPr>
        <p:spPr>
          <a:xfrm>
            <a:off x="552450" y="1924050"/>
            <a:ext cx="514350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2609" y="2000250"/>
            <a:ext cx="3863181" cy="299085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97421296-4789-495B-9D87-C7014A8C6B3C}"/>
              </a:ext>
            </a:extLst>
          </p:cNvPr>
          <p:cNvSpPr>
            <a:spLocks noGrp="1"/>
          </p:cNvSpPr>
          <p:nvPr/>
        </p:nvSpPr>
        <p:spPr>
          <a:xfrm>
            <a:off x="6496050" y="1924050"/>
            <a:ext cx="514350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310" y="2000250"/>
            <a:ext cx="3450981" cy="299085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B7F48887-31D1-49D0-AD45-C823DD9CF2AE}"/>
              </a:ext>
            </a:extLst>
          </p:cNvPr>
          <p:cNvSpPr>
            <a:spLocks noGrp="1"/>
          </p:cNvSpPr>
          <p:nvPr/>
        </p:nvSpPr>
        <p:spPr>
          <a:xfrm>
            <a:off x="1466850" y="5219700"/>
            <a:ext cx="3238500" cy="1123950"/>
          </a:xfrm>
          <a:prstGeom prst="rect">
            <a:avLst/>
          </a:prstGeom>
          <a:solidFill>
            <a:srgbClr val="FFFFFF"/>
          </a:solidFill>
          <a:ln w="12383">
            <a:solidFill>
              <a:srgbClr val="B8553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455F93D-F04F-4BF3-9E63-C60EEABD8B71}"/>
              </a:ext>
            </a:extLst>
          </p:cNvPr>
          <p:cNvSpPr>
            <a:spLocks noGrp="1"/>
          </p:cNvSpPr>
          <p:nvPr/>
        </p:nvSpPr>
        <p:spPr>
          <a:xfrm>
            <a:off x="1695450" y="5429250"/>
            <a:ext cx="1238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L_X-M500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0D7DB53-B683-49B0-8CA2-B57D18025B1C}"/>
              </a:ext>
            </a:extLst>
          </p:cNvPr>
          <p:cNvSpPr>
            <a:spLocks noGrp="1"/>
          </p:cNvSpPr>
          <p:nvPr/>
        </p:nvSpPr>
        <p:spPr>
          <a:xfrm>
            <a:off x="3257550" y="5391150"/>
            <a:ext cx="1047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slope beta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AC9B208-9D9D-43F5-8A61-E354D6D371A9}"/>
              </a:ext>
            </a:extLst>
          </p:cNvPr>
          <p:cNvSpPr>
            <a:spLocks noGrp="1"/>
          </p:cNvSpPr>
          <p:nvPr/>
        </p:nvSpPr>
        <p:spPr>
          <a:xfrm>
            <a:off x="3257550" y="5581650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1.08 -0.49/+0.53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C1AFEBA-1772-42CA-8BA6-AD9C592F9BF2}"/>
              </a:ext>
            </a:extLst>
          </p:cNvPr>
          <p:cNvSpPr>
            <a:spLocks noGrp="1"/>
          </p:cNvSpPr>
          <p:nvPr/>
        </p:nvSpPr>
        <p:spPr>
          <a:xfrm>
            <a:off x="3257550" y="5886450"/>
            <a:ext cx="12001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intrinsic scatter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FAD119E-1953-4228-9A0A-15B7021CFFCF}"/>
              </a:ext>
            </a:extLst>
          </p:cNvPr>
          <p:cNvSpPr>
            <a:spLocks noGrp="1"/>
          </p:cNvSpPr>
          <p:nvPr/>
        </p:nvSpPr>
        <p:spPr>
          <a:xfrm>
            <a:off x="3257550" y="6038850"/>
            <a:ext cx="1200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0.169 dex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8AA54D-2CE8-4983-ACED-9F30D71CAE29}"/>
              </a:ext>
            </a:extLst>
          </p:cNvPr>
          <p:cNvSpPr>
            <a:spLocks noGrp="1"/>
          </p:cNvSpPr>
          <p:nvPr/>
        </p:nvSpPr>
        <p:spPr>
          <a:xfrm>
            <a:off x="7486650" y="5219700"/>
            <a:ext cx="3238500" cy="1123950"/>
          </a:xfrm>
          <a:prstGeom prst="rect">
            <a:avLst/>
          </a:prstGeom>
          <a:solidFill>
            <a:srgbClr val="FFFFFF"/>
          </a:solidFill>
          <a:ln w="12383">
            <a:solidFill>
              <a:srgbClr val="1F7A8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6E5FD-A979-44AC-B0BA-C5D55F65D5F0}"/>
              </a:ext>
            </a:extLst>
          </p:cNvPr>
          <p:cNvSpPr>
            <a:spLocks noGrp="1"/>
          </p:cNvSpPr>
          <p:nvPr/>
        </p:nvSpPr>
        <p:spPr>
          <a:xfrm>
            <a:off x="7715250" y="5429250"/>
            <a:ext cx="1238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T_X-M500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925C85-2028-4643-89E6-16F386768838}"/>
              </a:ext>
            </a:extLst>
          </p:cNvPr>
          <p:cNvSpPr>
            <a:spLocks noGrp="1"/>
          </p:cNvSpPr>
          <p:nvPr/>
        </p:nvSpPr>
        <p:spPr>
          <a:xfrm>
            <a:off x="9277350" y="5391150"/>
            <a:ext cx="1047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slope beta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2F5816F-69C7-42D8-AD1C-3D0AA9F2928A}"/>
              </a:ext>
            </a:extLst>
          </p:cNvPr>
          <p:cNvSpPr>
            <a:spLocks noGrp="1"/>
          </p:cNvSpPr>
          <p:nvPr/>
        </p:nvSpPr>
        <p:spPr>
          <a:xfrm>
            <a:off x="9277350" y="5581650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0.48 -0.25/+0.26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997BBCF-AD71-4542-9E00-EA7F9309CA3D}"/>
              </a:ext>
            </a:extLst>
          </p:cNvPr>
          <p:cNvSpPr>
            <a:spLocks noGrp="1"/>
          </p:cNvSpPr>
          <p:nvPr/>
        </p:nvSpPr>
        <p:spPr>
          <a:xfrm>
            <a:off x="9277350" y="5886450"/>
            <a:ext cx="12001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intrinsic scatter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4333941-5685-46D7-A07D-CEDA32784F67}"/>
              </a:ext>
            </a:extLst>
          </p:cNvPr>
          <p:cNvSpPr>
            <a:spLocks noGrp="1"/>
          </p:cNvSpPr>
          <p:nvPr/>
        </p:nvSpPr>
        <p:spPr>
          <a:xfrm>
            <a:off x="9277350" y="6038850"/>
            <a:ext cx="1200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0.117 dex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43E6B18-1A72-4EA0-BB34-214FAFB9021D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B28624E-EACD-4A50-AAAC-26D9A001C883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Figures: output/figures/scaling/lx_m500_linmix_exclude_bad.png; m500_tx_literature_style_exclude_bad.png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C086A2A-483E-4EBB-BECF-7C99D412AE9F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39368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6B7E7877-92E9-45FE-807F-01EB3AFAE7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D0AB08-0FED-41C7-A2FC-EC56BA8481F7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5F2097-14C0-462E-AA60-D60EA0A0F238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CORE EXCISION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A3BA7F-7066-4244-A23B-E6BCF8315F1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Core excision preserves the mass-based slopes within current uncertainties.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6B27519-4713-4B33-8BA8-8436698D909B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The comparison uses the same 18-cluster sample over 0.15-1.0 R500.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2F486EE-0482-438E-B9BB-6034D13954D9}"/>
              </a:ext>
            </a:extLst>
          </p:cNvPr>
          <p:cNvSpPr>
            <a:spLocks noGrp="1"/>
          </p:cNvSpPr>
          <p:nvPr/>
        </p:nvSpPr>
        <p:spPr>
          <a:xfrm>
            <a:off x="476250" y="1866900"/>
            <a:ext cx="3429000" cy="25717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28253" y="1943100"/>
            <a:ext cx="3124994" cy="241935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873CB23-1732-4F20-9B6C-18C2E674DE2A}"/>
              </a:ext>
            </a:extLst>
          </p:cNvPr>
          <p:cNvSpPr>
            <a:spLocks noGrp="1"/>
          </p:cNvSpPr>
          <p:nvPr/>
        </p:nvSpPr>
        <p:spPr>
          <a:xfrm>
            <a:off x="8286750" y="1866900"/>
            <a:ext cx="3429000" cy="257175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605471" y="1943100"/>
            <a:ext cx="2791558" cy="241935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5B2D98B8-1F69-4408-8458-357F74D69166}"/>
              </a:ext>
            </a:extLst>
          </p:cNvPr>
          <p:cNvSpPr>
            <a:spLocks noGrp="1"/>
          </p:cNvSpPr>
          <p:nvPr/>
        </p:nvSpPr>
        <p:spPr>
          <a:xfrm>
            <a:off x="3924300" y="4705350"/>
            <a:ext cx="43434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C8BA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226D38-4A98-47BC-A1BA-898B39084447}"/>
              </a:ext>
            </a:extLst>
          </p:cNvPr>
          <p:cNvSpPr>
            <a:spLocks noGrp="1"/>
          </p:cNvSpPr>
          <p:nvPr/>
        </p:nvSpPr>
        <p:spPr>
          <a:xfrm>
            <a:off x="4076700" y="4819650"/>
            <a:ext cx="1238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Relation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E1D49DF-6746-43A4-94AD-1F3BFA9097CC}"/>
              </a:ext>
            </a:extLst>
          </p:cNvPr>
          <p:cNvSpPr>
            <a:spLocks noGrp="1"/>
          </p:cNvSpPr>
          <p:nvPr/>
        </p:nvSpPr>
        <p:spPr>
          <a:xfrm>
            <a:off x="5314950" y="4819650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full beta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CF4027B-8584-4226-A921-694315660AFD}"/>
              </a:ext>
            </a:extLst>
          </p:cNvPr>
          <p:cNvSpPr>
            <a:spLocks noGrp="1"/>
          </p:cNvSpPr>
          <p:nvPr/>
        </p:nvSpPr>
        <p:spPr>
          <a:xfrm>
            <a:off x="6172200" y="4819650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core beta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FC45F05-DD48-430F-8544-CE42A4EA1A34}"/>
              </a:ext>
            </a:extLst>
          </p:cNvPr>
          <p:cNvSpPr>
            <a:spLocks noGrp="1"/>
          </p:cNvSpPr>
          <p:nvPr/>
        </p:nvSpPr>
        <p:spPr>
          <a:xfrm>
            <a:off x="7029450" y="481965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scatter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D120339-E36C-407F-BEF8-EA1CB92487AA}"/>
              </a:ext>
            </a:extLst>
          </p:cNvPr>
          <p:cNvSpPr>
            <a:spLocks noGrp="1"/>
          </p:cNvSpPr>
          <p:nvPr/>
        </p:nvSpPr>
        <p:spPr>
          <a:xfrm>
            <a:off x="4057650" y="5057775"/>
            <a:ext cx="4076700" cy="9525"/>
          </a:xfrm>
          <a:prstGeom prst="rect">
            <a:avLst/>
          </a:prstGeom>
          <a:solidFill>
            <a:srgbClr val="D8D4C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C3A78FD-7AF0-4E6E-8FD4-2F0081852647}"/>
              </a:ext>
            </a:extLst>
          </p:cNvPr>
          <p:cNvSpPr>
            <a:spLocks noGrp="1"/>
          </p:cNvSpPr>
          <p:nvPr/>
        </p:nvSpPr>
        <p:spPr>
          <a:xfrm>
            <a:off x="4076700" y="51244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L_X-M500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4ED6593-B11C-4686-96E8-0E1F89D2D33F}"/>
              </a:ext>
            </a:extLst>
          </p:cNvPr>
          <p:cNvSpPr>
            <a:spLocks noGrp="1"/>
          </p:cNvSpPr>
          <p:nvPr/>
        </p:nvSpPr>
        <p:spPr>
          <a:xfrm>
            <a:off x="5314950" y="5124450"/>
            <a:ext cx="781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1.08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2E67336-C313-4559-846F-4FB96CDC44E2}"/>
              </a:ext>
            </a:extLst>
          </p:cNvPr>
          <p:cNvSpPr>
            <a:spLocks noGrp="1"/>
          </p:cNvSpPr>
          <p:nvPr/>
        </p:nvSpPr>
        <p:spPr>
          <a:xfrm>
            <a:off x="6172200" y="5124450"/>
            <a:ext cx="781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1.16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D2E7A3F-056F-454F-9432-990AB60C7EEC}"/>
              </a:ext>
            </a:extLst>
          </p:cNvPr>
          <p:cNvSpPr>
            <a:spLocks noGrp="1"/>
          </p:cNvSpPr>
          <p:nvPr/>
        </p:nvSpPr>
        <p:spPr>
          <a:xfrm>
            <a:off x="7029450" y="5124450"/>
            <a:ext cx="10668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0.169 -&gt; 0.192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E4A8162-82AD-4231-A251-28F92699EE13}"/>
              </a:ext>
            </a:extLst>
          </p:cNvPr>
          <p:cNvSpPr>
            <a:spLocks noGrp="1"/>
          </p:cNvSpPr>
          <p:nvPr/>
        </p:nvSpPr>
        <p:spPr>
          <a:xfrm>
            <a:off x="4057650" y="5581650"/>
            <a:ext cx="4076700" cy="9525"/>
          </a:xfrm>
          <a:prstGeom prst="rect">
            <a:avLst/>
          </a:prstGeom>
          <a:solidFill>
            <a:srgbClr val="EEE8D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0FC8F27-D6E6-4CC7-A077-CB6594E11669}"/>
              </a:ext>
            </a:extLst>
          </p:cNvPr>
          <p:cNvSpPr>
            <a:spLocks noGrp="1"/>
          </p:cNvSpPr>
          <p:nvPr/>
        </p:nvSpPr>
        <p:spPr>
          <a:xfrm>
            <a:off x="4076700" y="560070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T_X-M500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098B861-D2FB-46BD-B1E2-45BB18F19A1D}"/>
              </a:ext>
            </a:extLst>
          </p:cNvPr>
          <p:cNvSpPr>
            <a:spLocks noGrp="1"/>
          </p:cNvSpPr>
          <p:nvPr/>
        </p:nvSpPr>
        <p:spPr>
          <a:xfrm>
            <a:off x="5314950" y="5600700"/>
            <a:ext cx="781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0.48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8E5804F-2C8E-4E83-9109-6F08C19DB742}"/>
              </a:ext>
            </a:extLst>
          </p:cNvPr>
          <p:cNvSpPr>
            <a:spLocks noGrp="1"/>
          </p:cNvSpPr>
          <p:nvPr/>
        </p:nvSpPr>
        <p:spPr>
          <a:xfrm>
            <a:off x="6172200" y="5600700"/>
            <a:ext cx="781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0.56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5B0E7D0-1A67-4540-A4E1-17BE14472F41}"/>
              </a:ext>
            </a:extLst>
          </p:cNvPr>
          <p:cNvSpPr>
            <a:spLocks noGrp="1"/>
          </p:cNvSpPr>
          <p:nvPr/>
        </p:nvSpPr>
        <p:spPr>
          <a:xfrm>
            <a:off x="7029450" y="5600700"/>
            <a:ext cx="10668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975" b="0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0.117 -&gt; 0.134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B5A478A-50DC-4D0F-84C8-E502BD3DB2B5}"/>
              </a:ext>
            </a:extLst>
          </p:cNvPr>
          <p:cNvSpPr>
            <a:spLocks noGrp="1"/>
          </p:cNvSpPr>
          <p:nvPr/>
        </p:nvSpPr>
        <p:spPr>
          <a:xfrm>
            <a:off x="4114800" y="2076450"/>
            <a:ext cx="3962400" cy="1219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F7A8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8C2AC0A-11A8-4AAF-9DDF-60F52ED5457C}"/>
              </a:ext>
            </a:extLst>
          </p:cNvPr>
          <p:cNvSpPr>
            <a:spLocks noGrp="1"/>
          </p:cNvSpPr>
          <p:nvPr/>
        </p:nvSpPr>
        <p:spPr>
          <a:xfrm>
            <a:off x="4114800" y="2076450"/>
            <a:ext cx="57150" cy="12192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37B7D8A-28FB-4050-9C33-1D3B80B40A0C}"/>
              </a:ext>
            </a:extLst>
          </p:cNvPr>
          <p:cNvSpPr>
            <a:spLocks noGrp="1"/>
          </p:cNvSpPr>
          <p:nvPr/>
        </p:nvSpPr>
        <p:spPr>
          <a:xfrm>
            <a:off x="4305300" y="2209800"/>
            <a:ext cx="3638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Scientific reading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830821D-9E42-48A4-9872-07D9FF714386}"/>
              </a:ext>
            </a:extLst>
          </p:cNvPr>
          <p:cNvSpPr>
            <a:spLocks noGrp="1"/>
          </p:cNvSpPr>
          <p:nvPr/>
        </p:nvSpPr>
        <p:spPr>
          <a:xfrm>
            <a:off x="4305300" y="2476500"/>
            <a:ext cx="363855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The result is a stability check: removing the central 0.15 R500 does not overturn the mass-based relations at this precision.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5B4678E-5F4C-43E4-9F20-E0314369F2F1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2C257C6-C649-4286-B2F3-EA9B266B1EEF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final_scaling_table.csv; full_vs_core_excised_comparison.md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E3EF178-D55C-4BF9-858C-8C2B6D21DB19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80640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840BDB01-93EB-4821-BB06-B588CF633D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E317083-87C0-4110-A52D-5F1F2B7CF60A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A1A8AA5-7F10-40A3-980C-6BC74226596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QUALITY CONTROL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301F3D-EA54-4D09-9564-4775AE42A93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Quality control limits the impact of failed spectra and small-sample sensitivity.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C4B7E72-3F31-4B8B-BBDD-6C635FDD5486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Excluded systems are retained in the archive but not used for the headline scaling relations.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45BA3CA-683F-49F8-8CB5-85EF6209D9C4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3429000" cy="2876550"/>
          </a:xfrm>
          <a:prstGeom prst="rect">
            <a:avLst/>
          </a:prstGeom>
          <a:solidFill>
            <a:srgbClr val="FFFFFF"/>
          </a:solidFill>
          <a:ln w="12383">
            <a:solidFill>
              <a:srgbClr val="B8553B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FC0F84E-3A81-4C55-804C-19AA947250E0}"/>
              </a:ext>
            </a:extLst>
          </p:cNvPr>
          <p:cNvSpPr>
            <a:spLocks noGrp="1"/>
          </p:cNvSpPr>
          <p:nvPr/>
        </p:nvSpPr>
        <p:spPr>
          <a:xfrm>
            <a:off x="1009650" y="243840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Excluded from headline fit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CDA653-445B-4BD9-AC6B-D0C2DD16E7EF}"/>
              </a:ext>
            </a:extLst>
          </p:cNvPr>
          <p:cNvSpPr>
            <a:spLocks noGrp="1"/>
          </p:cNvSpPr>
          <p:nvPr/>
        </p:nvSpPr>
        <p:spPr>
          <a:xfrm>
            <a:off x="1104900" y="2990850"/>
            <a:ext cx="57150" cy="57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2746A77-1A7B-4FDB-9812-1DD70A1237ED}"/>
              </a:ext>
            </a:extLst>
          </p:cNvPr>
          <p:cNvSpPr>
            <a:spLocks noGrp="1"/>
          </p:cNvSpPr>
          <p:nvPr/>
        </p:nvSpPr>
        <p:spPr>
          <a:xfrm>
            <a:off x="1257300" y="2914650"/>
            <a:ext cx="2514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Abell 0697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872C8-55B8-43E3-B73E-F08D75040E01}"/>
              </a:ext>
            </a:extLst>
          </p:cNvPr>
          <p:cNvSpPr>
            <a:spLocks noGrp="1"/>
          </p:cNvSpPr>
          <p:nvPr/>
        </p:nvSpPr>
        <p:spPr>
          <a:xfrm>
            <a:off x="1104900" y="3390900"/>
            <a:ext cx="57150" cy="57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6BAAAD-CCAF-4B91-82FC-AEA2B2B776B5}"/>
              </a:ext>
            </a:extLst>
          </p:cNvPr>
          <p:cNvSpPr>
            <a:spLocks noGrp="1"/>
          </p:cNvSpPr>
          <p:nvPr/>
        </p:nvSpPr>
        <p:spPr>
          <a:xfrm>
            <a:off x="1257300" y="3314700"/>
            <a:ext cx="2514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Abell 0750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D02083B-2EB0-4622-B0B6-6125A625CA42}"/>
              </a:ext>
            </a:extLst>
          </p:cNvPr>
          <p:cNvSpPr>
            <a:spLocks noGrp="1"/>
          </p:cNvSpPr>
          <p:nvPr/>
        </p:nvSpPr>
        <p:spPr>
          <a:xfrm>
            <a:off x="1104900" y="3790950"/>
            <a:ext cx="57150" cy="57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EBBE8A-DC85-4ED4-B3BE-9A6717D2426E}"/>
              </a:ext>
            </a:extLst>
          </p:cNvPr>
          <p:cNvSpPr>
            <a:spLocks noGrp="1"/>
          </p:cNvSpPr>
          <p:nvPr/>
        </p:nvSpPr>
        <p:spPr>
          <a:xfrm>
            <a:off x="1257300" y="3714750"/>
            <a:ext cx="2514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MS2137-2353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1FBAFE6-6EA2-4F70-9977-4DE985318DCD}"/>
              </a:ext>
            </a:extLst>
          </p:cNvPr>
          <p:cNvSpPr>
            <a:spLocks noGrp="1"/>
          </p:cNvSpPr>
          <p:nvPr/>
        </p:nvSpPr>
        <p:spPr>
          <a:xfrm>
            <a:off x="1104900" y="4191000"/>
            <a:ext cx="57150" cy="57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9E345E0-E6A8-4088-A9B5-BF32FAB9FEB7}"/>
              </a:ext>
            </a:extLst>
          </p:cNvPr>
          <p:cNvSpPr>
            <a:spLocks noGrp="1"/>
          </p:cNvSpPr>
          <p:nvPr/>
        </p:nvSpPr>
        <p:spPr>
          <a:xfrm>
            <a:off x="1257300" y="4114800"/>
            <a:ext cx="2514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RXJ1347.5-1145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54CD37-EAE0-4C4A-8007-DD513EEF4CAA}"/>
              </a:ext>
            </a:extLst>
          </p:cNvPr>
          <p:cNvSpPr>
            <a:spLocks noGrp="1"/>
          </p:cNvSpPr>
          <p:nvPr/>
        </p:nvSpPr>
        <p:spPr>
          <a:xfrm>
            <a:off x="1104900" y="4591050"/>
            <a:ext cx="57150" cy="571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7B01570-DF8B-4144-909A-A3C6FEF384F5}"/>
              </a:ext>
            </a:extLst>
          </p:cNvPr>
          <p:cNvSpPr>
            <a:spLocks noGrp="1"/>
          </p:cNvSpPr>
          <p:nvPr/>
        </p:nvSpPr>
        <p:spPr>
          <a:xfrm>
            <a:off x="1257300" y="4514850"/>
            <a:ext cx="2514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ZwCl 0857.9+2107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1986250-D35E-4E34-B7CB-B6D4646C9DAA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3143250" cy="2876550"/>
          </a:xfrm>
          <a:prstGeom prst="rect">
            <a:avLst/>
          </a:prstGeom>
          <a:solidFill>
            <a:srgbClr val="FFFFFF"/>
          </a:solidFill>
          <a:ln w="12383">
            <a:solidFill>
              <a:srgbClr val="1F7A8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58BDC9-5E59-4893-9E32-52066D656834}"/>
              </a:ext>
            </a:extLst>
          </p:cNvPr>
          <p:cNvSpPr>
            <a:spLocks noGrp="1"/>
          </p:cNvSpPr>
          <p:nvPr/>
        </p:nvSpPr>
        <p:spPr>
          <a:xfrm>
            <a:off x="5010150" y="243840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Sensitivity tests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E189961-4774-450D-8BF3-AFD9D498EF04}"/>
              </a:ext>
            </a:extLst>
          </p:cNvPr>
          <p:cNvSpPr>
            <a:spLocks noGrp="1"/>
          </p:cNvSpPr>
          <p:nvPr/>
        </p:nvSpPr>
        <p:spPr>
          <a:xfrm>
            <a:off x="5010150" y="2971800"/>
            <a:ext cx="25527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Leave-one-out tests for retained high/suspect systems shift L_X-M500 and T_X-M500 slopes by less than the current statistical errors.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39695D-BB43-4EBB-9B5F-3BC488332C8A}"/>
              </a:ext>
            </a:extLst>
          </p:cNvPr>
          <p:cNvSpPr>
            <a:spLocks noGrp="1"/>
          </p:cNvSpPr>
          <p:nvPr/>
        </p:nvSpPr>
        <p:spPr>
          <a:xfrm>
            <a:off x="5010150" y="4286250"/>
            <a:ext cx="25527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Mass-based slopes remain the stable headline result.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B36287E-D5C5-4EFF-B138-B4014464CA92}"/>
              </a:ext>
            </a:extLst>
          </p:cNvPr>
          <p:cNvSpPr>
            <a:spLocks noGrp="1"/>
          </p:cNvSpPr>
          <p:nvPr/>
        </p:nvSpPr>
        <p:spPr>
          <a:xfrm>
            <a:off x="8477250" y="2190750"/>
            <a:ext cx="2952750" cy="2876550"/>
          </a:xfrm>
          <a:prstGeom prst="rect">
            <a:avLst/>
          </a:prstGeom>
          <a:solidFill>
            <a:srgbClr val="ECE7C9"/>
          </a:solidFill>
          <a:ln w="12383">
            <a:solidFill>
              <a:srgbClr val="7A6E2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248A3B7-1A52-4218-B78C-4FE8917CC59D}"/>
              </a:ext>
            </a:extLst>
          </p:cNvPr>
          <p:cNvSpPr>
            <a:spLocks noGrp="1"/>
          </p:cNvSpPr>
          <p:nvPr/>
        </p:nvSpPr>
        <p:spPr>
          <a:xfrm>
            <a:off x="8724900" y="24384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7A6E2C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7A6E2C"/>
                </a:solidFill>
                <a:latin typeface="Avenir Next"/>
                <a:ea typeface="Avenir Next"/>
                <a:cs typeface="Avenir Next"/>
              </a:rPr>
              <a:t>Remaining limitation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32AA9D-E65A-45EB-93FA-541B979C1781}"/>
              </a:ext>
            </a:extLst>
          </p:cNvPr>
          <p:cNvSpPr>
            <a:spLocks noGrp="1"/>
          </p:cNvSpPr>
          <p:nvPr/>
        </p:nvSpPr>
        <p:spPr>
          <a:xfrm>
            <a:off x="8724900" y="2971800"/>
            <a:ext cx="22860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The sample is small and heterogeneous, so precision is limited by statistical leverage, background treatment, and high-temperature objects.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BBA9EC-FA4B-46C5-A273-519C8BAD7904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D52FD4-4DB2-4BF6-9A72-5F673DC31C05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Sources: scaling sensitivity report; memory/pivot_normalization_analysis.md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2874FE9-E691-4C19-9953-476533F28EAA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78926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AA3B8D5-DE92-454B-AB69-A96EBF1642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1A2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B4B030-C457-4318-B7E6-5E74AE57C9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876300" cy="685800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333DCF0-6710-40E2-9E59-560E3CD2A6D4}"/>
              </a:ext>
            </a:extLst>
          </p:cNvPr>
          <p:cNvSpPr>
            <a:spLocks noGrp="1"/>
          </p:cNvSpPr>
          <p:nvPr/>
        </p:nvSpPr>
        <p:spPr>
          <a:xfrm>
            <a:off x="1257300" y="552450"/>
            <a:ext cx="95250" cy="95250"/>
          </a:xfrm>
          <a:prstGeom prst="rect">
            <a:avLst/>
          </a:prstGeom>
          <a:solidFill>
            <a:srgbClr val="B8553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00D9EA7-CD0D-4416-8F3F-2E3695F241CF}"/>
              </a:ext>
            </a:extLst>
          </p:cNvPr>
          <p:cNvSpPr>
            <a:spLocks noGrp="1"/>
          </p:cNvSpPr>
          <p:nvPr/>
        </p:nvSpPr>
        <p:spPr>
          <a:xfrm>
            <a:off x="1428750" y="51435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F1DDD5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1DDD5"/>
                </a:solidFill>
                <a:latin typeface="Avenir Next"/>
                <a:ea typeface="Avenir Next"/>
                <a:cs typeface="Avenir Next"/>
              </a:rPr>
              <a:t>SCIENTIFIC CONCLUSION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081860-E541-4B98-AE1D-C74CD432EFC2}"/>
              </a:ext>
            </a:extLst>
          </p:cNvPr>
          <p:cNvSpPr>
            <a:spLocks noGrp="1"/>
          </p:cNvSpPr>
          <p:nvPr/>
        </p:nvSpPr>
        <p:spPr>
          <a:xfrm>
            <a:off x="1257300" y="1066800"/>
            <a:ext cx="84772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3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Chandra hot-gas observables broadly trace weak-lensing halo mass.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DD6ED64-8B00-4FB5-815C-A4DF81546520}"/>
              </a:ext>
            </a:extLst>
          </p:cNvPr>
          <p:cNvSpPr>
            <a:spLocks noGrp="1"/>
          </p:cNvSpPr>
          <p:nvPr/>
        </p:nvSpPr>
        <p:spPr>
          <a:xfrm>
            <a:off x="1466850" y="23812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Mass relations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100AE4-DD52-4F9D-8E90-B1931D98C0BD}"/>
              </a:ext>
            </a:extLst>
          </p:cNvPr>
          <p:cNvSpPr>
            <a:spLocks noGrp="1"/>
          </p:cNvSpPr>
          <p:nvPr/>
        </p:nvSpPr>
        <p:spPr>
          <a:xfrm>
            <a:off x="3733800" y="2381250"/>
            <a:ext cx="6762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rPr>
              <a:t>Full-R500 L_X-M500 beta = 1.08 and T_X-M500 beta = 0.48 for the 18-cluster main sample.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5674A5-C011-4B8D-AC15-BEF850574667}"/>
              </a:ext>
            </a:extLst>
          </p:cNvPr>
          <p:cNvSpPr>
            <a:spLocks noGrp="1"/>
          </p:cNvSpPr>
          <p:nvPr/>
        </p:nvSpPr>
        <p:spPr>
          <a:xfrm>
            <a:off x="1466850" y="2914650"/>
            <a:ext cx="9048750" cy="9525"/>
          </a:xfrm>
          <a:prstGeom prst="rect">
            <a:avLst/>
          </a:prstGeom>
          <a:solidFill>
            <a:srgbClr val="3A4A5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206253-3C4B-4330-8B14-2AF50FFF7AE6}"/>
              </a:ext>
            </a:extLst>
          </p:cNvPr>
          <p:cNvSpPr>
            <a:spLocks noGrp="1"/>
          </p:cNvSpPr>
          <p:nvPr/>
        </p:nvSpPr>
        <p:spPr>
          <a:xfrm>
            <a:off x="1466850" y="31432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Core excision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6455549-9B1A-40FA-908F-85DAADA9952A}"/>
              </a:ext>
            </a:extLst>
          </p:cNvPr>
          <p:cNvSpPr>
            <a:spLocks noGrp="1"/>
          </p:cNvSpPr>
          <p:nvPr/>
        </p:nvSpPr>
        <p:spPr>
          <a:xfrm>
            <a:off x="3733800" y="3143250"/>
            <a:ext cx="6762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rPr>
              <a:t>The corresponding core-excised slopes, 1.16 and 0.56, agree within current statistical uncertainties.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F3A3FD6-C62F-4A1D-98DA-DB42CD00BD7E}"/>
              </a:ext>
            </a:extLst>
          </p:cNvPr>
          <p:cNvSpPr>
            <a:spLocks noGrp="1"/>
          </p:cNvSpPr>
          <p:nvPr/>
        </p:nvSpPr>
        <p:spPr>
          <a:xfrm>
            <a:off x="1466850" y="3676650"/>
            <a:ext cx="9048750" cy="9525"/>
          </a:xfrm>
          <a:prstGeom prst="rect">
            <a:avLst/>
          </a:prstGeom>
          <a:solidFill>
            <a:srgbClr val="3A4A5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426C20-4E11-4C8E-A31C-40FF87BB5B1A}"/>
              </a:ext>
            </a:extLst>
          </p:cNvPr>
          <p:cNvSpPr>
            <a:spLocks noGrp="1"/>
          </p:cNvSpPr>
          <p:nvPr/>
        </p:nvSpPr>
        <p:spPr>
          <a:xfrm>
            <a:off x="1466850" y="39052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Physical meaning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CB57E02-9538-4B71-9A46-CFF4D66A0375}"/>
              </a:ext>
            </a:extLst>
          </p:cNvPr>
          <p:cNvSpPr>
            <a:spLocks noGrp="1"/>
          </p:cNvSpPr>
          <p:nvPr/>
        </p:nvSpPr>
        <p:spPr>
          <a:xfrm>
            <a:off x="3733800" y="3905250"/>
            <a:ext cx="6762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rPr>
              <a:t>T_X-M500 is the cleaner gravitational proxy; L_X-M500 remains more sensitive to gas density and core/background physics.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17A3F6-78BF-4E86-9A63-0FDB6790329C}"/>
              </a:ext>
            </a:extLst>
          </p:cNvPr>
          <p:cNvSpPr>
            <a:spLocks noGrp="1"/>
          </p:cNvSpPr>
          <p:nvPr/>
        </p:nvSpPr>
        <p:spPr>
          <a:xfrm>
            <a:off x="1466850" y="4438650"/>
            <a:ext cx="9048750" cy="9525"/>
          </a:xfrm>
          <a:prstGeom prst="rect">
            <a:avLst/>
          </a:prstGeom>
          <a:solidFill>
            <a:srgbClr val="3A4A5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CE678D-50E1-463F-8AB9-4F5E340293C9}"/>
              </a:ext>
            </a:extLst>
          </p:cNvPr>
          <p:cNvSpPr>
            <a:spLocks noGrp="1"/>
          </p:cNvSpPr>
          <p:nvPr/>
        </p:nvSpPr>
        <p:spPr>
          <a:xfrm>
            <a:off x="1466850" y="4667250"/>
            <a:ext cx="2000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Precision limit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A4C1152-5CBC-4DD7-9B60-6D60EFC13C47}"/>
              </a:ext>
            </a:extLst>
          </p:cNvPr>
          <p:cNvSpPr>
            <a:spLocks noGrp="1"/>
          </p:cNvSpPr>
          <p:nvPr/>
        </p:nvSpPr>
        <p:spPr>
          <a:xfrm>
            <a:off x="3733800" y="4667250"/>
            <a:ext cx="67627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D8D4C8"/>
                </a:solidFill>
                <a:latin typeface="Avenir Next"/>
                <a:ea typeface="Avenir Next"/>
                <a:cs typeface="Avenir Next"/>
              </a:rPr>
              <a:t>The final uncertainty is set by sample size, heterogeneous Chandra coverage, background modeling, and a few high-T_X systems.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1FA3C61-97AC-416B-90BD-4DF36CB7BD7A}"/>
              </a:ext>
            </a:extLst>
          </p:cNvPr>
          <p:cNvSpPr>
            <a:spLocks noGrp="1"/>
          </p:cNvSpPr>
          <p:nvPr/>
        </p:nvSpPr>
        <p:spPr>
          <a:xfrm>
            <a:off x="1466850" y="5200650"/>
            <a:ext cx="9048750" cy="9525"/>
          </a:xfrm>
          <a:prstGeom prst="rect">
            <a:avLst/>
          </a:prstGeom>
          <a:solidFill>
            <a:srgbClr val="3A4A5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B860AE1-C9CF-4AEF-A11E-2E3BD2004ACF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E62DE1E-A107-4894-B6D5-FD6364373C94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Final report and refreshed scaling products, May 2026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5ABC1F-8AFD-45E6-9A21-21EA9C7FE093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891792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E18DD0AE-2D1E-4ABE-9329-D2F7E0471C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8516FDE-90A6-4F16-8520-90DCB7DB2784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95250" cy="95250"/>
          </a:xfrm>
          <a:prstGeom prst="rect">
            <a:avLst/>
          </a:prstGeom>
          <a:solidFill>
            <a:srgbClr val="1F7A8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1B638C2-E0CE-4A30-85B7-2DE71DF2C11F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3429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BACKUP: CONSISTENCY RELATION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2FFF358-FBFF-4037-935F-19F174C0707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99536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26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The L_X-T_X relation is retained as a non-headline consistency check.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2B3AC0-D5D2-4061-838E-40BF04D9D96A}"/>
              </a:ext>
            </a:extLst>
          </p:cNvPr>
          <p:cNvSpPr>
            <a:spLocks noGrp="1"/>
          </p:cNvSpPr>
          <p:nvPr/>
        </p:nvSpPr>
        <p:spPr>
          <a:xfrm>
            <a:off x="533400" y="1581150"/>
            <a:ext cx="9906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It is the noisiest relation and is not used as the primary scientific conclusion.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7D74F6B-5DCE-4A84-8D66-5882332F59E3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69194" y="2076450"/>
            <a:ext cx="3986213" cy="30861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BB11B08E-52EA-4FC0-8DBE-C077BDCF9E68}"/>
              </a:ext>
            </a:extLst>
          </p:cNvPr>
          <p:cNvSpPr>
            <a:spLocks noGrp="1"/>
          </p:cNvSpPr>
          <p:nvPr/>
        </p:nvSpPr>
        <p:spPr>
          <a:xfrm>
            <a:off x="6553200" y="2000250"/>
            <a:ext cx="49530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FC7B9"/>
            </a:solidFill>
            <a:prstDash val="solid"/>
          </a:ln>
        </p:spPr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036594" y="2076450"/>
            <a:ext cx="3986213" cy="30861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812B71AB-6648-406B-8FB8-D9A6DA4E5C6A}"/>
              </a:ext>
            </a:extLst>
          </p:cNvPr>
          <p:cNvSpPr>
            <a:spLocks noGrp="1"/>
          </p:cNvSpPr>
          <p:nvPr/>
        </p:nvSpPr>
        <p:spPr>
          <a:xfrm>
            <a:off x="1428750" y="5257800"/>
            <a:ext cx="3238500" cy="1123950"/>
          </a:xfrm>
          <a:prstGeom prst="rect">
            <a:avLst/>
          </a:prstGeom>
          <a:solidFill>
            <a:srgbClr val="FFFFFF"/>
          </a:solidFill>
          <a:ln w="12383">
            <a:solidFill>
              <a:srgbClr val="B8553B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8E4A99A-3FFC-489C-95E9-A08CC4D8D4C3}"/>
              </a:ext>
            </a:extLst>
          </p:cNvPr>
          <p:cNvSpPr>
            <a:spLocks noGrp="1"/>
          </p:cNvSpPr>
          <p:nvPr/>
        </p:nvSpPr>
        <p:spPr>
          <a:xfrm>
            <a:off x="1657350" y="5467350"/>
            <a:ext cx="1238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B8553B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B8553B"/>
                </a:solidFill>
                <a:latin typeface="Avenir Next"/>
                <a:ea typeface="Avenir Next"/>
                <a:cs typeface="Avenir Next"/>
              </a:rPr>
              <a:t>Full R500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AE991B0-CCED-480A-B82A-5E8495A80ACB}"/>
              </a:ext>
            </a:extLst>
          </p:cNvPr>
          <p:cNvSpPr>
            <a:spLocks noGrp="1"/>
          </p:cNvSpPr>
          <p:nvPr/>
        </p:nvSpPr>
        <p:spPr>
          <a:xfrm>
            <a:off x="3219450" y="5429250"/>
            <a:ext cx="1047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slope beta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2F73649-CFA4-4736-B3B2-297D8AEDC754}"/>
              </a:ext>
            </a:extLst>
          </p:cNvPr>
          <p:cNvSpPr>
            <a:spLocks noGrp="1"/>
          </p:cNvSpPr>
          <p:nvPr/>
        </p:nvSpPr>
        <p:spPr>
          <a:xfrm>
            <a:off x="3219450" y="5619750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0.76 -0.41/+0.43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E9C5DE2-080B-41CA-8D40-0CC7A5297081}"/>
              </a:ext>
            </a:extLst>
          </p:cNvPr>
          <p:cNvSpPr>
            <a:spLocks noGrp="1"/>
          </p:cNvSpPr>
          <p:nvPr/>
        </p:nvSpPr>
        <p:spPr>
          <a:xfrm>
            <a:off x="3219450" y="5924550"/>
            <a:ext cx="12001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intrinsic scatter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5A2842-0112-48B6-9B65-4349EB722E35}"/>
              </a:ext>
            </a:extLst>
          </p:cNvPr>
          <p:cNvSpPr>
            <a:spLocks noGrp="1"/>
          </p:cNvSpPr>
          <p:nvPr/>
        </p:nvSpPr>
        <p:spPr>
          <a:xfrm>
            <a:off x="3219450" y="6076950"/>
            <a:ext cx="1200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0.227 dex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4E3188F-0645-4FDA-8494-2FB99FD70472}"/>
              </a:ext>
            </a:extLst>
          </p:cNvPr>
          <p:cNvSpPr>
            <a:spLocks noGrp="1"/>
          </p:cNvSpPr>
          <p:nvPr/>
        </p:nvSpPr>
        <p:spPr>
          <a:xfrm>
            <a:off x="7524750" y="5257800"/>
            <a:ext cx="3238500" cy="1123950"/>
          </a:xfrm>
          <a:prstGeom prst="rect">
            <a:avLst/>
          </a:prstGeom>
          <a:solidFill>
            <a:srgbClr val="FFFFFF"/>
          </a:solidFill>
          <a:ln w="12383">
            <a:solidFill>
              <a:srgbClr val="1F7A8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54FA92-BB01-48C8-8A79-C29FF454D1C7}"/>
              </a:ext>
            </a:extLst>
          </p:cNvPr>
          <p:cNvSpPr>
            <a:spLocks noGrp="1"/>
          </p:cNvSpPr>
          <p:nvPr/>
        </p:nvSpPr>
        <p:spPr>
          <a:xfrm>
            <a:off x="7753350" y="5467350"/>
            <a:ext cx="1238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F7A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1F7A8C"/>
                </a:solidFill>
                <a:latin typeface="Avenir Next"/>
                <a:ea typeface="Avenir Next"/>
                <a:cs typeface="Avenir Next"/>
              </a:rPr>
              <a:t>Core excised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8C753C-D75A-49B5-893B-8B3B24F2A2EF}"/>
              </a:ext>
            </a:extLst>
          </p:cNvPr>
          <p:cNvSpPr>
            <a:spLocks noGrp="1"/>
          </p:cNvSpPr>
          <p:nvPr/>
        </p:nvSpPr>
        <p:spPr>
          <a:xfrm>
            <a:off x="9315450" y="5429250"/>
            <a:ext cx="1047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slope beta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F1026D5-C642-48B1-B53E-6198175D4009}"/>
              </a:ext>
            </a:extLst>
          </p:cNvPr>
          <p:cNvSpPr>
            <a:spLocks noGrp="1"/>
          </p:cNvSpPr>
          <p:nvPr/>
        </p:nvSpPr>
        <p:spPr>
          <a:xfrm>
            <a:off x="9315450" y="5619750"/>
            <a:ext cx="133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121A22"/>
                </a:solidFill>
                <a:latin typeface="Avenir Next"/>
                <a:ea typeface="Avenir Next"/>
                <a:cs typeface="Avenir Next"/>
              </a:rPr>
              <a:t>0.90 -0.43/+0.46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BBBC42E-8AD0-4AD2-A55B-352C7A37A603}"/>
              </a:ext>
            </a:extLst>
          </p:cNvPr>
          <p:cNvSpPr>
            <a:spLocks noGrp="1"/>
          </p:cNvSpPr>
          <p:nvPr/>
        </p:nvSpPr>
        <p:spPr>
          <a:xfrm>
            <a:off x="9315450" y="5924550"/>
            <a:ext cx="12001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intrinsic scatter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FE8B418-37E9-49A4-A03A-E7F769D3D723}"/>
              </a:ext>
            </a:extLst>
          </p:cNvPr>
          <p:cNvSpPr>
            <a:spLocks noGrp="1"/>
          </p:cNvSpPr>
          <p:nvPr/>
        </p:nvSpPr>
        <p:spPr>
          <a:xfrm>
            <a:off x="9315450" y="6076950"/>
            <a:ext cx="12001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253240"/>
                </a:solidFill>
                <a:latin typeface="Avenir Next"/>
                <a:ea typeface="Avenir Next"/>
                <a:cs typeface="Avenir Next"/>
              </a:rPr>
              <a:t>0.230 dex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BDB845-B229-4A6B-9FD0-20F26BF0BB81}"/>
              </a:ext>
            </a:extLst>
          </p:cNvPr>
          <p:cNvSpPr>
            <a:spLocks noGrp="1"/>
          </p:cNvSpPr>
          <p:nvPr/>
        </p:nvSpPr>
        <p:spPr>
          <a:xfrm>
            <a:off x="514350" y="6438900"/>
            <a:ext cx="11163300" cy="9525"/>
          </a:xfrm>
          <a:prstGeom prst="rect">
            <a:avLst/>
          </a:prstGeom>
          <a:solidFill>
            <a:srgbClr val="CEC8B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C4F9AEF-A544-48F9-B2F8-D9AA512FAD8C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885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Backup figures: output/figures/scaling/*lx_tx*exclude_bad.png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C0FB389-4EE0-4EA7-89D7-A687CAE202F5}"/>
              </a:ext>
            </a:extLst>
          </p:cNvPr>
          <p:cNvSpPr>
            <a:spLocks noGrp="1"/>
          </p:cNvSpPr>
          <p:nvPr/>
        </p:nvSpPr>
        <p:spPr>
          <a:xfrm>
            <a:off x="11334750" y="6553200"/>
            <a:ext cx="342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06B61"/>
                </a:solidFill>
                <a:latin typeface="Avenir Next"/>
                <a:ea typeface="Avenir Next"/>
                <a:cs typeface="Avenir Next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376916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1308</Words>
  <Application>Microsoft Macintosh PowerPoint</Application>
  <DocSecurity>0</DocSecurity>
  <PresentationFormat>宽屏</PresentationFormat>
  <Paragraphs>229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Avenir Next</vt:lpstr>
      <vt:lpstr>Calibri</vt:lpstr>
      <vt:lpstr>Menlo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Jingyi Zhang</cp:lastModifiedBy>
  <cp:revision>1</cp:revision>
  <dcterms:created xsi:type="dcterms:W3CDTF">2026-05-29T14:53:06Z</dcterms:created>
  <dcterms:modified xsi:type="dcterms:W3CDTF">2026-05-29T15:00:52Z</dcterms:modified>
</cp:coreProperties>
</file>